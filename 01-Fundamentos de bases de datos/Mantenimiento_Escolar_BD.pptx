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[días/tardes]. Somos el equipo 5 y hoy vamos a presentar el análisis del Caso 5: un sistema de control de reportes de mantenimiento escolar. Lo que queremos mostrar es cómo se puede organizar toda esa información en una base de datos para que nada se pierda y todo funcione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Básicamente el problema es que todo se maneja de manera informal: alguien avisa de boca o por mensaje, y si no hay registro, ese aviso se pierde. Piensen en cuántas veces han visto que algo está roto en la escuela y sigue roto semanas después... Eso es exactamente lo que pasa cuando no hay un sistema organizado. Una base de datos nos permitiría tener un registro permanente de cada reporte, desde que se reporta hasta que se resuelve.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¿qué información necesitamos guardar? Básicamente todo lo que hoy se pierde: quién reportó, qué pasó, dónde, cuándo, quién lo atendió y qué materiales usó. Cada dato tiene un propósito; por ejemplo, la prioridad nos dice si algo es urgente como una fuga de agua, o puede esperar como un foco fundido. Y ¿quién usaría el sistema? Básicamente cuatro tipos de personas, cada una con un rol diferente dentro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tiene cuatro procesos clave. Todo empieza cuando alguien registra un reporte, luego el jefe asigna a quien lo va a atender, el trabajador va actualizando el estado, y al terminar se cierra el reporte con todos los detalles. En cuanto a las tablas, básicamente cada cosa importante se convierte en una tabla: los reportes, las áreas del plantel, los trabajadores, los materiales que usan y quién reportó el problema. Estas tablas son la estructura de nuestra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relaciones entre tablas son simples: un reporte siempre pertenece a un área, es atendido por un trabajador y puede usar materiales. Si no tuviéramos estas conexiones, cada tabla sería una isla sin sentido. Por eso las relaciones son el corazón de la base de datos. Y para qué sirve todo esto: para poder hacer consultas útiles. Por ejemplo, el director puede ver de un vistazo qué áreas tienen más reportes, cuánto tardan en atenderse, o qué tipo de fallas se repiten más. Esa información ayuda a tomar decisiones, no solo a apagar fuegos.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lo más valioso de este ejercicio no fue memorizar términos técnicos, sino entender que antes de escribir código o crear tablas, necesitamos analizar el problema. ¿Qué datos importan? ¿Quién los usa? ¿Cómo se conectan? Una base de datos bien pensada no solo guarda información, la convierte en algo útil para tomar decisiones. En este caso, significa que el área de mantenimiento deja de apagar incendios y empieza a prevenirlos.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w="12700">
            <a:solidFill>
              <a:srgbClr val="F5A623"/>
            </a:solidFill>
            <a:prstDash val="solid"/>
          </a:ln>
        </p:spPr>
      </p:sp>
      <p:sp>
        <p:nvSpPr>
          <p:cNvPr id="3" name="Shape 1"/>
          <p:cNvSpPr/>
          <p:nvPr/>
        </p:nvSpPr>
        <p:spPr>
          <a:xfrm>
            <a:off x="3886200" y="411480"/>
            <a:ext cx="1371600" cy="1371600"/>
          </a:xfrm>
          <a:prstGeom prst="ellipse">
            <a:avLst/>
          </a:prstGeom>
          <a:solidFill>
            <a:srgbClr val="1A6B8A"/>
          </a:solidFill>
          <a:ln w="12700">
            <a:solidFill>
              <a:srgbClr val="1A6B8A"/>
            </a:solidFill>
            <a:prstDash val="solid"/>
          </a:ln>
        </p:spPr>
      </p:sp>
      <p:pic>
        <p:nvPicPr>
          <p:cNvPr id="4" name="Image 0" descr="preencoded.png">    </p:cNvPr>
          <p:cNvPicPr>
            <a:picLocks noChangeAspect="1"/>
          </p:cNvPicPr>
          <p:nvPr/>
        </p:nvPicPr>
        <p:blipFill>
          <a:blip r:embed="rId1"/>
          <a:stretch>
            <a:fillRect/>
          </a:stretch>
        </p:blipFill>
        <p:spPr>
          <a:xfrm>
            <a:off x="4187952" y="640080"/>
            <a:ext cx="777240" cy="777240"/>
          </a:xfrm>
          <a:prstGeom prst="rect">
            <a:avLst/>
          </a:prstGeom>
        </p:spPr>
      </p:pic>
      <p:sp>
        <p:nvSpPr>
          <p:cNvPr id="5" name="Text 2"/>
          <p:cNvSpPr/>
          <p:nvPr/>
        </p:nvSpPr>
        <p:spPr>
          <a:xfrm>
            <a:off x="457200" y="1828800"/>
            <a:ext cx="8229600" cy="640080"/>
          </a:xfrm>
          <a:prstGeom prst="rect">
            <a:avLst/>
          </a:prstGeom>
          <a:noFill/>
          <a:ln/>
        </p:spPr>
        <p:txBody>
          <a:bodyPr wrap="square"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Sistema de Control de</a:t>
            </a:r>
            <a:endParaRPr lang="en-US" sz="3200" dirty="0"/>
          </a:p>
        </p:txBody>
      </p:sp>
      <p:sp>
        <p:nvSpPr>
          <p:cNvPr id="6" name="Text 3"/>
          <p:cNvSpPr/>
          <p:nvPr/>
        </p:nvSpPr>
        <p:spPr>
          <a:xfrm>
            <a:off x="457200" y="2423160"/>
            <a:ext cx="8229600" cy="640080"/>
          </a:xfrm>
          <a:prstGeom prst="rect">
            <a:avLst/>
          </a:prstGeom>
          <a:noFill/>
          <a:ln/>
        </p:spPr>
        <p:txBody>
          <a:bodyPr wrap="square" rtlCol="0" anchor="ctr"/>
          <a:lstStyle/>
          <a:p>
            <a:pPr algn="ctr" indent="0" marL="0">
              <a:buNone/>
            </a:pPr>
            <a:r>
              <a:rPr lang="en-US" sz="3200" b="1" dirty="0">
                <a:solidFill>
                  <a:srgbClr val="F5A623"/>
                </a:solidFill>
                <a:latin typeface="Trebuchet MS" pitchFamily="34" charset="0"/>
                <a:ea typeface="Trebuchet MS" pitchFamily="34" charset="-122"/>
                <a:cs typeface="Trebuchet MS" pitchFamily="34" charset="-120"/>
              </a:rPr>
              <a:t>Reportes de Mantenimiento Escolar</a:t>
            </a:r>
            <a:endParaRPr lang="en-US" sz="3200" dirty="0"/>
          </a:p>
        </p:txBody>
      </p:sp>
      <p:sp>
        <p:nvSpPr>
          <p:cNvPr id="7" name="Text 4"/>
          <p:cNvSpPr/>
          <p:nvPr/>
        </p:nvSpPr>
        <p:spPr>
          <a:xfrm>
            <a:off x="457200" y="3154680"/>
            <a:ext cx="8229600" cy="365760"/>
          </a:xfrm>
          <a:prstGeom prst="rect">
            <a:avLst/>
          </a:prstGeom>
          <a:noFill/>
          <a:ln/>
        </p:spPr>
        <p:txBody>
          <a:bodyPr wrap="square" rtlCol="0" anchor="ctr"/>
          <a:lstStyle/>
          <a:p>
            <a:pPr algn="ctr" indent="0" marL="0">
              <a:buNone/>
            </a:pPr>
            <a:r>
              <a:rPr lang="en-US" sz="1600" i="1" dirty="0">
                <a:solidFill>
                  <a:srgbClr val="A8D8EA"/>
                </a:solidFill>
                <a:latin typeface="Calibri" pitchFamily="34" charset="0"/>
                <a:ea typeface="Calibri" pitchFamily="34" charset="-122"/>
                <a:cs typeface="Calibri" pitchFamily="34" charset="-120"/>
              </a:rPr>
              <a:t>Caso 5 – Análisis de Base de Datos</a:t>
            </a:r>
            <a:endParaRPr lang="en-US" sz="1600" dirty="0"/>
          </a:p>
        </p:txBody>
      </p:sp>
      <p:sp>
        <p:nvSpPr>
          <p:cNvPr id="8" name="Shape 5"/>
          <p:cNvSpPr/>
          <p:nvPr/>
        </p:nvSpPr>
        <p:spPr>
          <a:xfrm>
            <a:off x="1645920" y="3703320"/>
            <a:ext cx="5852160" cy="1097280"/>
          </a:xfrm>
          <a:prstGeom prst="rect">
            <a:avLst/>
          </a:prstGeom>
          <a:solidFill>
            <a:srgbClr val="1A6B8A">
              <a:alpha val="75000"/>
            </a:srgbClr>
          </a:solidFill>
          <a:ln w="12700">
            <a:solidFill>
              <a:srgbClr val="1A6B8A"/>
            </a:solidFill>
            <a:prstDash val="solid"/>
          </a:ln>
          <a:effectLst>
            <a:outerShdw sx="100000" sy="100000" kx="0" ky="0" algn="bl" rotWithShape="0" blurRad="101600" dist="25400" dir="8100000">
              <a:srgbClr val="000000">
                <a:alpha val="12000"/>
              </a:srgbClr>
            </a:outerShdw>
          </a:effectLst>
        </p:spPr>
      </p:sp>
      <p:sp>
        <p:nvSpPr>
          <p:cNvPr id="9" name="Text 6"/>
          <p:cNvSpPr/>
          <p:nvPr/>
        </p:nvSpPr>
        <p:spPr>
          <a:xfrm>
            <a:off x="1737360" y="3749040"/>
            <a:ext cx="5669280" cy="10058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Materia: </a:t>
            </a:r>
            <a:pPr algn="ctr" indent="0" marL="0">
              <a:buNone/>
            </a:pPr>
            <a:r>
              <a:rPr lang="en-US" sz="1300" dirty="0">
                <a:solidFill>
                  <a:srgbClr val="FFFFFF"/>
                </a:solidFill>
                <a:latin typeface="Calibri" pitchFamily="34" charset="0"/>
                <a:ea typeface="Calibri" pitchFamily="34" charset="-122"/>
                <a:cs typeface="Calibri" pitchFamily="34" charset="-120"/>
              </a:rPr>
              <a:t>Base de Datos   </a:t>
            </a:r>
            <a:pPr algn="ctr" indent="0" marL="0">
              <a:buNone/>
            </a:pPr>
            <a:r>
              <a:rPr lang="en-US" sz="1300" b="1" dirty="0">
                <a:solidFill>
                  <a:srgbClr val="F5A623"/>
                </a:solidFill>
                <a:latin typeface="Calibri" pitchFamily="34" charset="0"/>
                <a:ea typeface="Calibri" pitchFamily="34" charset="-122"/>
                <a:cs typeface="Calibri" pitchFamily="34" charset="-120"/>
              </a:rPr>
              <a:t>  |  </a:t>
            </a:r>
            <a:pPr algn="ctr" indent="0" marL="0">
              <a:buNone/>
            </a:pPr>
            <a:r>
              <a:rPr lang="en-US" sz="1300" b="1" dirty="0">
                <a:solidFill>
                  <a:srgbClr val="FFFFFF"/>
                </a:solidFill>
                <a:latin typeface="Calibri" pitchFamily="34" charset="0"/>
                <a:ea typeface="Calibri" pitchFamily="34" charset="-122"/>
                <a:cs typeface="Calibri" pitchFamily="34" charset="-120"/>
              </a:rPr>
              <a:t>Grupo: </a:t>
            </a:r>
            <a:pPr algn="ctr" indent="0" marL="0">
              <a:buNone/>
            </a:pPr>
            <a:r>
              <a:rPr lang="en-US" sz="1300" dirty="0">
                <a:solidFill>
                  <a:srgbClr val="FFFFFF"/>
                </a:solidFill>
                <a:latin typeface="Calibri" pitchFamily="34" charset="0"/>
                <a:ea typeface="Calibri" pitchFamily="34" charset="-122"/>
                <a:cs typeface="Calibri" pitchFamily="34" charset="-120"/>
              </a:rPr>
              <a:t>BD-01
</a:t>
            </a:r>
            <a:pPr algn="ctr" indent="0" marL="0">
              <a:buNone/>
            </a:pPr>
            <a:r>
              <a:rPr lang="en-US" sz="1300" b="1" dirty="0">
                <a:solidFill>
                  <a:srgbClr val="FFFFFF"/>
                </a:solidFill>
                <a:latin typeface="Calibri" pitchFamily="34" charset="0"/>
                <a:ea typeface="Calibri" pitchFamily="34" charset="-122"/>
                <a:cs typeface="Calibri" pitchFamily="34" charset="-120"/>
              </a:rPr>
              <a:t>Integrantes: </a:t>
            </a:r>
            <a:pPr algn="ctr" indent="0" marL="0">
              <a:buNone/>
            </a:pPr>
            <a:r>
              <a:rPr lang="en-US" sz="1300" dirty="0">
                <a:solidFill>
                  <a:srgbClr val="FFFFFF"/>
                </a:solidFill>
                <a:latin typeface="Calibri" pitchFamily="34" charset="0"/>
                <a:ea typeface="Calibri" pitchFamily="34" charset="-122"/>
                <a:cs typeface="Calibri" pitchFamily="34" charset="-120"/>
              </a:rPr>
              <a:t>Equipo 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3B4F"/>
          </a:solidFill>
          <a:ln w="12700">
            <a:solidFill>
              <a:srgbClr val="0D3B4F"/>
            </a:solidFill>
            <a:prstDash val="solid"/>
          </a:ln>
        </p:spPr>
      </p:sp>
      <p:pic>
        <p:nvPicPr>
          <p:cNvPr id="3" name="Image 0" descr="preencoded.png">    </p:cNvPr>
          <p:cNvPicPr>
            <a:picLocks noChangeAspect="1"/>
          </p:cNvPicPr>
          <p:nvPr/>
        </p:nvPicPr>
        <p:blipFill>
          <a:blip r:embed="rId1"/>
          <a:stretch>
            <a:fillRect/>
          </a:stretch>
        </p:blipFill>
        <p:spPr>
          <a:xfrm>
            <a:off x="228600" y="164592"/>
            <a:ext cx="530352" cy="530352"/>
          </a:xfrm>
          <a:prstGeom prst="rect">
            <a:avLst/>
          </a:prstGeom>
        </p:spPr>
      </p:pic>
      <p:sp>
        <p:nvSpPr>
          <p:cNvPr id="4" name="Text 1"/>
          <p:cNvSpPr/>
          <p:nvPr/>
        </p:nvSpPr>
        <p:spPr>
          <a:xfrm>
            <a:off x="914400" y="91440"/>
            <a:ext cx="7955280" cy="6858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El Problema: ¿Qué está pasando hoy?</a:t>
            </a:r>
            <a:endParaRPr lang="en-US" sz="2400" dirty="0"/>
          </a:p>
        </p:txBody>
      </p:sp>
      <p:sp>
        <p:nvSpPr>
          <p:cNvPr id="5" name="Shape 2"/>
          <p:cNvSpPr/>
          <p:nvPr/>
        </p:nvSpPr>
        <p:spPr>
          <a:xfrm>
            <a:off x="228600" y="1005840"/>
            <a:ext cx="4114800" cy="3657600"/>
          </a:xfrm>
          <a:prstGeom prst="rect">
            <a:avLst/>
          </a:prstGeom>
          <a:solidFill>
            <a:srgbClr val="FFFFFF"/>
          </a:solidFill>
          <a:ln w="12700">
            <a:solidFill>
              <a:srgbClr val="D0E8F0"/>
            </a:solidFill>
            <a:prstDash val="solid"/>
          </a:ln>
          <a:effectLst>
            <a:outerShdw sx="100000" sy="100000" kx="0" ky="0" algn="bl" rotWithShape="0" blurRad="101600" dist="25400" dir="8100000">
              <a:srgbClr val="000000">
                <a:alpha val="12000"/>
              </a:srgbClr>
            </a:outerShdw>
          </a:effectLst>
        </p:spPr>
      </p:sp>
      <p:sp>
        <p:nvSpPr>
          <p:cNvPr id="6" name="Text 3"/>
          <p:cNvSpPr/>
          <p:nvPr/>
        </p:nvSpPr>
        <p:spPr>
          <a:xfrm>
            <a:off x="320040" y="1051560"/>
            <a:ext cx="3931920" cy="411480"/>
          </a:xfrm>
          <a:prstGeom prst="rect">
            <a:avLst/>
          </a:prstGeom>
          <a:noFill/>
          <a:ln/>
        </p:spPr>
        <p:txBody>
          <a:bodyPr wrap="square" rtlCol="0" anchor="ctr"/>
          <a:lstStyle/>
          <a:p>
            <a:pPr indent="0" marL="0">
              <a:buNone/>
            </a:pPr>
            <a:r>
              <a:rPr lang="en-US" sz="1500" b="1" dirty="0">
                <a:solidFill>
                  <a:srgbClr val="1A6B8A"/>
                </a:solidFill>
                <a:latin typeface="Trebuchet MS" pitchFamily="34" charset="0"/>
                <a:ea typeface="Trebuchet MS" pitchFamily="34" charset="-122"/>
                <a:cs typeface="Trebuchet MS" pitchFamily="34" charset="-120"/>
              </a:rPr>
              <a:t>Situación actual</a:t>
            </a:r>
            <a:endParaRPr lang="en-US" sz="1500" dirty="0"/>
          </a:p>
        </p:txBody>
      </p:sp>
      <p:sp>
        <p:nvSpPr>
          <p:cNvPr id="7" name="Text 4"/>
          <p:cNvSpPr/>
          <p:nvPr/>
        </p:nvSpPr>
        <p:spPr>
          <a:xfrm>
            <a:off x="320040" y="1508760"/>
            <a:ext cx="3931920" cy="3063240"/>
          </a:xfrm>
          <a:prstGeom prst="rect">
            <a:avLst/>
          </a:prstGeom>
          <a:noFill/>
          <a:ln/>
        </p:spPr>
        <p:txBody>
          <a:bodyPr wrap="square" rtlCol="0" anchor="t"/>
          <a:lstStyle/>
          <a:p>
            <a:pPr indent="0" marL="0">
              <a:buNone/>
            </a:pPr>
            <a:r>
              <a:rPr lang="en-US" sz="1250" dirty="0">
                <a:solidFill>
                  <a:srgbClr val="1C2B33"/>
                </a:solidFill>
                <a:latin typeface="Calibri" pitchFamily="34" charset="0"/>
                <a:ea typeface="Calibri" pitchFamily="34" charset="-122"/>
                <a:cs typeface="Calibri" pitchFamily="34" charset="-120"/>
              </a:rPr>
              <a:t>El área de mantenimiento recibe reportes de fallas en aulas, laboratorios, oficinas y áreas comunes.
</a:t>
            </a:r>
            <a:pPr indent="0" marL="0">
              <a:buNone/>
            </a:pPr>
            <a:r>
              <a:rPr lang="en-US" sz="1250" b="1" dirty="0">
                <a:solidFill>
                  <a:srgbClr val="1A6B8A"/>
                </a:solidFill>
                <a:latin typeface="Calibri" pitchFamily="34" charset="0"/>
                <a:ea typeface="Calibri" pitchFamily="34" charset="-122"/>
                <a:cs typeface="Calibri" pitchFamily="34" charset="-120"/>
              </a:rPr>
              <a:t>¿Cómo llegan esos reportes hoy?
</a:t>
            </a:r>
            <a:pPr indent="0" marL="0">
              <a:buNone/>
            </a:pPr>
            <a:r>
              <a:rPr lang="en-US" sz="1250" dirty="0">
                <a:solidFill>
                  <a:srgbClr val="1C2B33"/>
                </a:solidFill>
                <a:latin typeface="Calibri" pitchFamily="34" charset="0"/>
                <a:ea typeface="Calibri" pitchFamily="34" charset="-122"/>
                <a:cs typeface="Calibri" pitchFamily="34" charset="-120"/>
              </a:rPr>
              <a:t>Verbalmente o por mensajes de WhatsApp/chat. No hay registro formal.
</a:t>
            </a:r>
            <a:pPr indent="0" marL="0">
              <a:buNone/>
            </a:pPr>
            <a:r>
              <a:rPr lang="en-US" sz="1250" b="1" dirty="0">
                <a:solidFill>
                  <a:srgbClr val="1A6B8A"/>
                </a:solidFill>
                <a:latin typeface="Calibri" pitchFamily="34" charset="0"/>
                <a:ea typeface="Calibri" pitchFamily="34" charset="-122"/>
                <a:cs typeface="Calibri" pitchFamily="34" charset="-120"/>
              </a:rPr>
              <a:t>Ejemplo real:
</a:t>
            </a:r>
            <a:pPr indent="0" marL="0">
              <a:buNone/>
            </a:pPr>
            <a:r>
              <a:rPr lang="en-US" sz="1250" dirty="0">
                <a:solidFill>
                  <a:srgbClr val="1C2B33"/>
                </a:solidFill>
                <a:latin typeface="Calibri" pitchFamily="34" charset="0"/>
                <a:ea typeface="Calibri" pitchFamily="34" charset="-122"/>
                <a:cs typeface="Calibri" pitchFamily="34" charset="-120"/>
              </a:rPr>
              <a:t>Un maestro avisa de viva voz que el proyector del Aula 3 no funciona. Si el responsable de mantenimiento lo olvida o no apunta, ese reporte desaparece.</a:t>
            </a:r>
            <a:endParaRPr lang="en-US" sz="1250" dirty="0"/>
          </a:p>
        </p:txBody>
      </p:sp>
      <p:sp>
        <p:nvSpPr>
          <p:cNvPr id="8" name="Shape 5"/>
          <p:cNvSpPr/>
          <p:nvPr/>
        </p:nvSpPr>
        <p:spPr>
          <a:xfrm>
            <a:off x="4617720" y="1005840"/>
            <a:ext cx="4297680" cy="3657600"/>
          </a:xfrm>
          <a:prstGeom prst="rect">
            <a:avLst/>
          </a:prstGeom>
          <a:solidFill>
            <a:srgbClr val="FFFFFF"/>
          </a:solidFill>
          <a:ln w="12700">
            <a:solidFill>
              <a:srgbClr val="D0E8F0"/>
            </a:solidFill>
            <a:prstDash val="solid"/>
          </a:ln>
          <a:effectLst>
            <a:outerShdw sx="100000" sy="100000" kx="0" ky="0" algn="bl" rotWithShape="0" blurRad="101600" dist="25400" dir="8100000">
              <a:srgbClr val="000000">
                <a:alpha val="12000"/>
              </a:srgbClr>
            </a:outerShdw>
          </a:effectLst>
        </p:spPr>
      </p:sp>
      <p:sp>
        <p:nvSpPr>
          <p:cNvPr id="9" name="Text 6"/>
          <p:cNvSpPr/>
          <p:nvPr/>
        </p:nvSpPr>
        <p:spPr>
          <a:xfrm>
            <a:off x="4709160" y="1051560"/>
            <a:ext cx="4114800" cy="411480"/>
          </a:xfrm>
          <a:prstGeom prst="rect">
            <a:avLst/>
          </a:prstGeom>
          <a:noFill/>
          <a:ln/>
        </p:spPr>
        <p:txBody>
          <a:bodyPr wrap="square" rtlCol="0" anchor="ctr"/>
          <a:lstStyle/>
          <a:p>
            <a:pPr indent="0" marL="0">
              <a:buNone/>
            </a:pPr>
            <a:r>
              <a:rPr lang="en-US" sz="1500" b="1" dirty="0">
                <a:solidFill>
                  <a:srgbClr val="C0392B"/>
                </a:solidFill>
                <a:latin typeface="Trebuchet MS" pitchFamily="34" charset="0"/>
                <a:ea typeface="Trebuchet MS" pitchFamily="34" charset="-122"/>
                <a:cs typeface="Trebuchet MS" pitchFamily="34" charset="-120"/>
              </a:rPr>
              <a:t>Consecuencias del desorden</a:t>
            </a:r>
            <a:endParaRPr lang="en-US" sz="1500" dirty="0"/>
          </a:p>
        </p:txBody>
      </p:sp>
      <p:sp>
        <p:nvSpPr>
          <p:cNvPr id="10" name="Text 7"/>
          <p:cNvSpPr/>
          <p:nvPr/>
        </p:nvSpPr>
        <p:spPr>
          <a:xfrm>
            <a:off x="4709160" y="1508760"/>
            <a:ext cx="4069080" cy="3017520"/>
          </a:xfrm>
          <a:prstGeom prst="rect">
            <a:avLst/>
          </a:prstGeom>
          <a:noFill/>
          <a:ln/>
        </p:spPr>
        <p:txBody>
          <a:bodyPr wrap="square" rtlCol="0" anchor="t"/>
          <a:lstStyle/>
          <a:p>
            <a:pPr marL="342900" indent="-342900">
              <a:buSzPct val="100000"/>
              <a:buChar char="•"/>
            </a:pPr>
            <a:r>
              <a:rPr lang="en-US" sz="1250" dirty="0">
                <a:solidFill>
                  <a:srgbClr val="1C2B33"/>
                </a:solidFill>
                <a:latin typeface="Calibri" pitchFamily="34" charset="0"/>
                <a:ea typeface="Calibri" pitchFamily="34" charset="-122"/>
                <a:cs typeface="Calibri" pitchFamily="34" charset="-120"/>
              </a:rPr>
              <a:t>Reportes que nadie atiende a tiempo.</a:t>
            </a:r>
            <a:endParaRPr lang="en-US" sz="1250" dirty="0"/>
          </a:p>
          <a:p>
            <a:pPr marL="342900" indent="-342900">
              <a:buSzPct val="100000"/>
              <a:buChar char="•"/>
            </a:pPr>
            <a:r>
              <a:rPr lang="en-US" sz="1250" dirty="0">
                <a:solidFill>
                  <a:srgbClr val="1C2B33"/>
                </a:solidFill>
                <a:latin typeface="Calibri" pitchFamily="34" charset="0"/>
                <a:ea typeface="Calibri" pitchFamily="34" charset="-122"/>
                <a:cs typeface="Calibri" pitchFamily="34" charset="-120"/>
              </a:rPr>
              <a:t>Fallas que se repiten porque no se registra la solución.</a:t>
            </a:r>
            <a:endParaRPr lang="en-US" sz="1250" dirty="0"/>
          </a:p>
          <a:p>
            <a:pPr marL="342900" indent="-342900">
              <a:buSzPct val="100000"/>
              <a:buChar char="•"/>
            </a:pPr>
            <a:r>
              <a:rPr lang="en-US" sz="1250" dirty="0">
                <a:solidFill>
                  <a:srgbClr val="1C2B33"/>
                </a:solidFill>
                <a:latin typeface="Calibri" pitchFamily="34" charset="0"/>
                <a:ea typeface="Calibri" pitchFamily="34" charset="-122"/>
                <a:cs typeface="Calibri" pitchFamily="34" charset="-120"/>
              </a:rPr>
              <a:t>Nadie sabe qué trabajador fue asignado ni cuánto tardó.</a:t>
            </a:r>
            <a:endParaRPr lang="en-US" sz="1250" dirty="0"/>
          </a:p>
          <a:p>
            <a:pPr marL="342900" indent="-342900">
              <a:buSzPct val="100000"/>
              <a:buChar char="•"/>
            </a:pPr>
            <a:r>
              <a:rPr lang="en-US" sz="1250" dirty="0">
                <a:solidFill>
                  <a:srgbClr val="1C2B33"/>
                </a:solidFill>
                <a:latin typeface="Calibri" pitchFamily="34" charset="0"/>
                <a:ea typeface="Calibri" pitchFamily="34" charset="-122"/>
                <a:cs typeface="Calibri" pitchFamily="34" charset="-120"/>
              </a:rPr>
              <a:t>El director no puede ver qué áreas tienen más problemas.</a:t>
            </a:r>
            <a:endParaRPr lang="en-US" sz="1250" dirty="0"/>
          </a:p>
          <a:p>
            <a:pPr marL="342900" indent="-342900">
              <a:buSzPct val="100000"/>
              <a:buChar char="•"/>
            </a:pPr>
            <a:r>
              <a:rPr lang="en-US" sz="1250" dirty="0">
                <a:solidFill>
                  <a:srgbClr val="1C2B33"/>
                </a:solidFill>
                <a:latin typeface="Calibri" pitchFamily="34" charset="0"/>
                <a:ea typeface="Calibri" pitchFamily="34" charset="-122"/>
                <a:cs typeface="Calibri" pitchFamily="34" charset="-120"/>
              </a:rPr>
              <a:t>Si el encargado falta, se pierde toda la información.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A6B8A"/>
          </a:solidFill>
          <a:ln w="12700">
            <a:solidFill>
              <a:srgbClr val="1A6B8A"/>
            </a:solidFill>
            <a:prstDash val="solid"/>
          </a:ln>
        </p:spPr>
      </p:sp>
      <p:pic>
        <p:nvPicPr>
          <p:cNvPr id="3" name="Image 0" descr="preencoded.png">    </p:cNvPr>
          <p:cNvPicPr>
            <a:picLocks noChangeAspect="1"/>
          </p:cNvPicPr>
          <p:nvPr/>
        </p:nvPicPr>
        <p:blipFill>
          <a:blip r:embed="rId1"/>
          <a:stretch>
            <a:fillRect/>
          </a:stretch>
        </p:blipFill>
        <p:spPr>
          <a:xfrm>
            <a:off x="201168" y="155448"/>
            <a:ext cx="548640" cy="548640"/>
          </a:xfrm>
          <a:prstGeom prst="rect">
            <a:avLst/>
          </a:prstGeom>
        </p:spPr>
      </p:pic>
      <p:sp>
        <p:nvSpPr>
          <p:cNvPr id="4" name="Text 1"/>
          <p:cNvSpPr/>
          <p:nvPr/>
        </p:nvSpPr>
        <p:spPr>
          <a:xfrm>
            <a:off x="914400" y="91440"/>
            <a:ext cx="7955280" cy="6858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¿Qué datos necesitamos guardar y quién usa el sistema?</a:t>
            </a:r>
            <a:endParaRPr lang="en-US" sz="2100" dirty="0"/>
          </a:p>
        </p:txBody>
      </p:sp>
      <p:sp>
        <p:nvSpPr>
          <p:cNvPr id="5" name="Shape 2"/>
          <p:cNvSpPr/>
          <p:nvPr/>
        </p:nvSpPr>
        <p:spPr>
          <a:xfrm>
            <a:off x="228600" y="960120"/>
            <a:ext cx="4663440" cy="3886200"/>
          </a:xfrm>
          <a:prstGeom prst="rect">
            <a:avLst/>
          </a:prstGeom>
          <a:solidFill>
            <a:srgbClr val="FFFFFF"/>
          </a:solidFill>
          <a:ln w="12700">
            <a:solidFill>
              <a:srgbClr val="D0E8F0"/>
            </a:solidFill>
            <a:prstDash val="solid"/>
          </a:ln>
          <a:effectLst>
            <a:outerShdw sx="100000" sy="100000" kx="0" ky="0" algn="bl" rotWithShape="0" blurRad="101600" dist="25400" dir="8100000">
              <a:srgbClr val="000000">
                <a:alpha val="12000"/>
              </a:srgbClr>
            </a:outerShdw>
          </a:effectLst>
        </p:spPr>
      </p:sp>
      <p:sp>
        <p:nvSpPr>
          <p:cNvPr id="6" name="Text 3"/>
          <p:cNvSpPr/>
          <p:nvPr/>
        </p:nvSpPr>
        <p:spPr>
          <a:xfrm>
            <a:off x="320040" y="1005840"/>
            <a:ext cx="4480560" cy="384048"/>
          </a:xfrm>
          <a:prstGeom prst="rect">
            <a:avLst/>
          </a:prstGeom>
          <a:noFill/>
          <a:ln/>
        </p:spPr>
        <p:txBody>
          <a:bodyPr wrap="square" rtlCol="0" anchor="ctr"/>
          <a:lstStyle/>
          <a:p>
            <a:pPr indent="0" marL="0">
              <a:buNone/>
            </a:pPr>
            <a:r>
              <a:rPr lang="en-US" sz="1400" b="1" dirty="0">
                <a:solidFill>
                  <a:srgbClr val="1A6B8A"/>
                </a:solidFill>
                <a:latin typeface="Trebuchet MS" pitchFamily="34" charset="0"/>
                <a:ea typeface="Trebuchet MS" pitchFamily="34" charset="-122"/>
                <a:cs typeface="Trebuchet MS" pitchFamily="34" charset="-120"/>
              </a:rPr>
              <a:t>Datos que debe guardar cada reporte</a:t>
            </a:r>
            <a:endParaRPr lang="en-US" sz="1400" dirty="0"/>
          </a:p>
        </p:txBody>
      </p:sp>
      <p:sp>
        <p:nvSpPr>
          <p:cNvPr id="7" name="Shape 4"/>
          <p:cNvSpPr/>
          <p:nvPr/>
        </p:nvSpPr>
        <p:spPr>
          <a:xfrm>
            <a:off x="274320" y="1408176"/>
            <a:ext cx="4526280" cy="356616"/>
          </a:xfrm>
          <a:prstGeom prst="rect">
            <a:avLst/>
          </a:prstGeom>
          <a:solidFill>
            <a:srgbClr val="EAF4F9"/>
          </a:solidFill>
          <a:ln w="12700">
            <a:solidFill>
              <a:srgbClr val="EAF4F9"/>
            </a:solidFill>
            <a:prstDash val="solid"/>
          </a:ln>
        </p:spPr>
      </p:sp>
      <p:sp>
        <p:nvSpPr>
          <p:cNvPr id="8" name="Text 5"/>
          <p:cNvSpPr/>
          <p:nvPr/>
        </p:nvSpPr>
        <p:spPr>
          <a:xfrm>
            <a:off x="347472" y="1435608"/>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Área: </a:t>
            </a:r>
            <a:pPr indent="0" marL="0">
              <a:buNone/>
            </a:pPr>
            <a:r>
              <a:rPr lang="en-US" sz="1150" dirty="0">
                <a:solidFill>
                  <a:srgbClr val="1C2B33"/>
                </a:solidFill>
                <a:latin typeface="Calibri" pitchFamily="34" charset="0"/>
                <a:ea typeface="Calibri" pitchFamily="34" charset="-122"/>
                <a:cs typeface="Calibri" pitchFamily="34" charset="-120"/>
              </a:rPr>
              <a:t>¿Dónde ocurrió? (Aula 3, Lab. Química...)</a:t>
            </a:r>
            <a:endParaRPr lang="en-US" sz="1150" dirty="0"/>
          </a:p>
        </p:txBody>
      </p:sp>
      <p:sp>
        <p:nvSpPr>
          <p:cNvPr id="9" name="Text 6"/>
          <p:cNvSpPr/>
          <p:nvPr/>
        </p:nvSpPr>
        <p:spPr>
          <a:xfrm>
            <a:off x="347472" y="1792224"/>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Descripción: </a:t>
            </a:r>
            <a:pPr indent="0" marL="0">
              <a:buNone/>
            </a:pPr>
            <a:r>
              <a:rPr lang="en-US" sz="1150" dirty="0">
                <a:solidFill>
                  <a:srgbClr val="1C2B33"/>
                </a:solidFill>
                <a:latin typeface="Calibri" pitchFamily="34" charset="0"/>
                <a:ea typeface="Calibri" pitchFamily="34" charset="-122"/>
                <a:cs typeface="Calibri" pitchFamily="34" charset="-120"/>
              </a:rPr>
              <a:t>¿Qué falla exactamente? (Proyector no enciende)</a:t>
            </a:r>
            <a:endParaRPr lang="en-US" sz="1150" dirty="0"/>
          </a:p>
        </p:txBody>
      </p:sp>
      <p:sp>
        <p:nvSpPr>
          <p:cNvPr id="10" name="Shape 7"/>
          <p:cNvSpPr/>
          <p:nvPr/>
        </p:nvSpPr>
        <p:spPr>
          <a:xfrm>
            <a:off x="274320" y="2121408"/>
            <a:ext cx="4526280" cy="356616"/>
          </a:xfrm>
          <a:prstGeom prst="rect">
            <a:avLst/>
          </a:prstGeom>
          <a:solidFill>
            <a:srgbClr val="EAF4F9"/>
          </a:solidFill>
          <a:ln w="12700">
            <a:solidFill>
              <a:srgbClr val="EAF4F9"/>
            </a:solidFill>
            <a:prstDash val="solid"/>
          </a:ln>
        </p:spPr>
      </p:sp>
      <p:sp>
        <p:nvSpPr>
          <p:cNvPr id="11" name="Text 8"/>
          <p:cNvSpPr/>
          <p:nvPr/>
        </p:nvSpPr>
        <p:spPr>
          <a:xfrm>
            <a:off x="347472" y="2148840"/>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Fecha reporte: </a:t>
            </a:r>
            <a:pPr indent="0" marL="0">
              <a:buNone/>
            </a:pPr>
            <a:r>
              <a:rPr lang="en-US" sz="1150" dirty="0">
                <a:solidFill>
                  <a:srgbClr val="1C2B33"/>
                </a:solidFill>
                <a:latin typeface="Calibri" pitchFamily="34" charset="0"/>
                <a:ea typeface="Calibri" pitchFamily="34" charset="-122"/>
                <a:cs typeface="Calibri" pitchFamily="34" charset="-120"/>
              </a:rPr>
              <a:t>¿Cuándo se reportó? Para medir tiempos.</a:t>
            </a:r>
            <a:endParaRPr lang="en-US" sz="1150" dirty="0"/>
          </a:p>
        </p:txBody>
      </p:sp>
      <p:sp>
        <p:nvSpPr>
          <p:cNvPr id="12" name="Text 9"/>
          <p:cNvSpPr/>
          <p:nvPr/>
        </p:nvSpPr>
        <p:spPr>
          <a:xfrm>
            <a:off x="347472" y="2505456"/>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Quien reporta: </a:t>
            </a:r>
            <a:pPr indent="0" marL="0">
              <a:buNone/>
            </a:pPr>
            <a:r>
              <a:rPr lang="en-US" sz="1150" dirty="0">
                <a:solidFill>
                  <a:srgbClr val="1C2B33"/>
                </a:solidFill>
                <a:latin typeface="Calibri" pitchFamily="34" charset="0"/>
                <a:ea typeface="Calibri" pitchFamily="34" charset="-122"/>
                <a:cs typeface="Calibri" pitchFamily="34" charset="-120"/>
              </a:rPr>
              <a:t>¿Quién avisó? Para dar seguimiento.</a:t>
            </a:r>
            <a:endParaRPr lang="en-US" sz="1150" dirty="0"/>
          </a:p>
        </p:txBody>
      </p:sp>
      <p:sp>
        <p:nvSpPr>
          <p:cNvPr id="13" name="Shape 10"/>
          <p:cNvSpPr/>
          <p:nvPr/>
        </p:nvSpPr>
        <p:spPr>
          <a:xfrm>
            <a:off x="274320" y="2834640"/>
            <a:ext cx="4526280" cy="356616"/>
          </a:xfrm>
          <a:prstGeom prst="rect">
            <a:avLst/>
          </a:prstGeom>
          <a:solidFill>
            <a:srgbClr val="EAF4F9"/>
          </a:solidFill>
          <a:ln w="12700">
            <a:solidFill>
              <a:srgbClr val="EAF4F9"/>
            </a:solidFill>
            <a:prstDash val="solid"/>
          </a:ln>
        </p:spPr>
      </p:sp>
      <p:sp>
        <p:nvSpPr>
          <p:cNvPr id="14" name="Text 11"/>
          <p:cNvSpPr/>
          <p:nvPr/>
        </p:nvSpPr>
        <p:spPr>
          <a:xfrm>
            <a:off x="347472" y="2862072"/>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Prioridad: </a:t>
            </a:r>
            <a:pPr indent="0" marL="0">
              <a:buNone/>
            </a:pPr>
            <a:r>
              <a:rPr lang="en-US" sz="1150" dirty="0">
                <a:solidFill>
                  <a:srgbClr val="1C2B33"/>
                </a:solidFill>
                <a:latin typeface="Calibri" pitchFamily="34" charset="0"/>
                <a:ea typeface="Calibri" pitchFamily="34" charset="-122"/>
                <a:cs typeface="Calibri" pitchFamily="34" charset="-120"/>
              </a:rPr>
              <a:t>Alta, media o baja. ¿Qué es urgente?</a:t>
            </a:r>
            <a:endParaRPr lang="en-US" sz="1150" dirty="0"/>
          </a:p>
        </p:txBody>
      </p:sp>
      <p:sp>
        <p:nvSpPr>
          <p:cNvPr id="15" name="Text 12"/>
          <p:cNvSpPr/>
          <p:nvPr/>
        </p:nvSpPr>
        <p:spPr>
          <a:xfrm>
            <a:off x="347472" y="3218688"/>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Estado: </a:t>
            </a:r>
            <a:pPr indent="0" marL="0">
              <a:buNone/>
            </a:pPr>
            <a:r>
              <a:rPr lang="en-US" sz="1150" dirty="0">
                <a:solidFill>
                  <a:srgbClr val="1C2B33"/>
                </a:solidFill>
                <a:latin typeface="Calibri" pitchFamily="34" charset="0"/>
                <a:ea typeface="Calibri" pitchFamily="34" charset="-122"/>
                <a:cs typeface="Calibri" pitchFamily="34" charset="-120"/>
              </a:rPr>
              <a:t>Pendiente / En proceso / Atendido / Cancelado</a:t>
            </a:r>
            <a:endParaRPr lang="en-US" sz="1150" dirty="0"/>
          </a:p>
        </p:txBody>
      </p:sp>
      <p:sp>
        <p:nvSpPr>
          <p:cNvPr id="16" name="Shape 13"/>
          <p:cNvSpPr/>
          <p:nvPr/>
        </p:nvSpPr>
        <p:spPr>
          <a:xfrm>
            <a:off x="274320" y="3547872"/>
            <a:ext cx="4526280" cy="356616"/>
          </a:xfrm>
          <a:prstGeom prst="rect">
            <a:avLst/>
          </a:prstGeom>
          <a:solidFill>
            <a:srgbClr val="EAF4F9"/>
          </a:solidFill>
          <a:ln w="12700">
            <a:solidFill>
              <a:srgbClr val="EAF4F9"/>
            </a:solidFill>
            <a:prstDash val="solid"/>
          </a:ln>
        </p:spPr>
      </p:sp>
      <p:sp>
        <p:nvSpPr>
          <p:cNvPr id="17" name="Text 14"/>
          <p:cNvSpPr/>
          <p:nvPr/>
        </p:nvSpPr>
        <p:spPr>
          <a:xfrm>
            <a:off x="347472" y="3575304"/>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Trabajador: </a:t>
            </a:r>
            <a:pPr indent="0" marL="0">
              <a:buNone/>
            </a:pPr>
            <a:r>
              <a:rPr lang="en-US" sz="1150" dirty="0">
                <a:solidFill>
                  <a:srgbClr val="1C2B33"/>
                </a:solidFill>
                <a:latin typeface="Calibri" pitchFamily="34" charset="0"/>
                <a:ea typeface="Calibri" pitchFamily="34" charset="-122"/>
                <a:cs typeface="Calibri" pitchFamily="34" charset="-120"/>
              </a:rPr>
              <a:t>¿Quién lo va a reparar?</a:t>
            </a:r>
            <a:endParaRPr lang="en-US" sz="1150" dirty="0"/>
          </a:p>
        </p:txBody>
      </p:sp>
      <p:sp>
        <p:nvSpPr>
          <p:cNvPr id="18" name="Text 15"/>
          <p:cNvSpPr/>
          <p:nvPr/>
        </p:nvSpPr>
        <p:spPr>
          <a:xfrm>
            <a:off x="347472" y="3931920"/>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Fecha atención: </a:t>
            </a:r>
            <a:pPr indent="0" marL="0">
              <a:buNone/>
            </a:pPr>
            <a:r>
              <a:rPr lang="en-US" sz="1150" dirty="0">
                <a:solidFill>
                  <a:srgbClr val="1C2B33"/>
                </a:solidFill>
                <a:latin typeface="Calibri" pitchFamily="34" charset="0"/>
                <a:ea typeface="Calibri" pitchFamily="34" charset="-122"/>
                <a:cs typeface="Calibri" pitchFamily="34" charset="-120"/>
              </a:rPr>
              <a:t>¿Cuándo se atendió realmente?</a:t>
            </a:r>
            <a:endParaRPr lang="en-US" sz="1150" dirty="0"/>
          </a:p>
        </p:txBody>
      </p:sp>
      <p:sp>
        <p:nvSpPr>
          <p:cNvPr id="19" name="Shape 16"/>
          <p:cNvSpPr/>
          <p:nvPr/>
        </p:nvSpPr>
        <p:spPr>
          <a:xfrm>
            <a:off x="274320" y="4261104"/>
            <a:ext cx="4526280" cy="356616"/>
          </a:xfrm>
          <a:prstGeom prst="rect">
            <a:avLst/>
          </a:prstGeom>
          <a:solidFill>
            <a:srgbClr val="EAF4F9"/>
          </a:solidFill>
          <a:ln w="12700">
            <a:solidFill>
              <a:srgbClr val="EAF4F9"/>
            </a:solidFill>
            <a:prstDash val="solid"/>
          </a:ln>
        </p:spPr>
      </p:sp>
      <p:sp>
        <p:nvSpPr>
          <p:cNvPr id="20" name="Text 17"/>
          <p:cNvSpPr/>
          <p:nvPr/>
        </p:nvSpPr>
        <p:spPr>
          <a:xfrm>
            <a:off x="347472" y="4288536"/>
            <a:ext cx="4434840" cy="310896"/>
          </a:xfrm>
          <a:prstGeom prst="rect">
            <a:avLst/>
          </a:prstGeom>
          <a:noFill/>
          <a:ln/>
        </p:spPr>
        <p:txBody>
          <a:bodyPr wrap="square" rtlCol="0" anchor="ctr"/>
          <a:lstStyle/>
          <a:p>
            <a:pPr indent="0" marL="0">
              <a:buNone/>
            </a:pPr>
            <a:r>
              <a:rPr lang="en-US" sz="1150" b="1" dirty="0">
                <a:solidFill>
                  <a:srgbClr val="1A6B8A"/>
                </a:solidFill>
                <a:latin typeface="Calibri" pitchFamily="34" charset="0"/>
                <a:ea typeface="Calibri" pitchFamily="34" charset="-122"/>
                <a:cs typeface="Calibri" pitchFamily="34" charset="-120"/>
              </a:rPr>
              <a:t>🪛 Materiales: </a:t>
            </a:r>
            <a:pPr indent="0" marL="0">
              <a:buNone/>
            </a:pPr>
            <a:r>
              <a:rPr lang="en-US" sz="1150" dirty="0">
                <a:solidFill>
                  <a:srgbClr val="1C2B33"/>
                </a:solidFill>
                <a:latin typeface="Calibri" pitchFamily="34" charset="0"/>
                <a:ea typeface="Calibri" pitchFamily="34" charset="-122"/>
                <a:cs typeface="Calibri" pitchFamily="34" charset="-120"/>
              </a:rPr>
              <a:t>¿Qué se usó para arreglarlo?</a:t>
            </a:r>
            <a:endParaRPr lang="en-US" sz="1150" dirty="0"/>
          </a:p>
        </p:txBody>
      </p:sp>
      <p:sp>
        <p:nvSpPr>
          <p:cNvPr id="21" name="Shape 18"/>
          <p:cNvSpPr/>
          <p:nvPr/>
        </p:nvSpPr>
        <p:spPr>
          <a:xfrm>
            <a:off x="5120640" y="960120"/>
            <a:ext cx="3794760" cy="3886200"/>
          </a:xfrm>
          <a:prstGeom prst="rect">
            <a:avLst/>
          </a:prstGeom>
          <a:solidFill>
            <a:srgbClr val="FFFFFF"/>
          </a:solidFill>
          <a:ln w="12700">
            <a:solidFill>
              <a:srgbClr val="D0E8F0"/>
            </a:solidFill>
            <a:prstDash val="solid"/>
          </a:ln>
          <a:effectLst>
            <a:outerShdw sx="100000" sy="100000" kx="0" ky="0" algn="bl" rotWithShape="0" blurRad="101600" dist="25400" dir="8100000">
              <a:srgbClr val="000000">
                <a:alpha val="12000"/>
              </a:srgbClr>
            </a:outerShdw>
          </a:effectLst>
        </p:spPr>
      </p:sp>
      <p:sp>
        <p:nvSpPr>
          <p:cNvPr id="22" name="Text 19"/>
          <p:cNvSpPr/>
          <p:nvPr/>
        </p:nvSpPr>
        <p:spPr>
          <a:xfrm>
            <a:off x="5212080" y="1005840"/>
            <a:ext cx="3611880" cy="384048"/>
          </a:xfrm>
          <a:prstGeom prst="rect">
            <a:avLst/>
          </a:prstGeom>
          <a:noFill/>
          <a:ln/>
        </p:spPr>
        <p:txBody>
          <a:bodyPr wrap="square" rtlCol="0" anchor="ctr"/>
          <a:lstStyle/>
          <a:p>
            <a:pPr indent="0" marL="0">
              <a:buNone/>
            </a:pPr>
            <a:r>
              <a:rPr lang="en-US" sz="1400" b="1" dirty="0">
                <a:solidFill>
                  <a:srgbClr val="1A6B8A"/>
                </a:solidFill>
                <a:latin typeface="Trebuchet MS" pitchFamily="34" charset="0"/>
                <a:ea typeface="Trebuchet MS" pitchFamily="34" charset="-122"/>
                <a:cs typeface="Trebuchet MS" pitchFamily="34" charset="-120"/>
              </a:rPr>
              <a:t>Usuarios del sistema</a:t>
            </a:r>
            <a:endParaRPr lang="en-US" sz="1400" dirty="0"/>
          </a:p>
        </p:txBody>
      </p:sp>
      <p:sp>
        <p:nvSpPr>
          <p:cNvPr id="23" name="Shape 20"/>
          <p:cNvSpPr/>
          <p:nvPr/>
        </p:nvSpPr>
        <p:spPr>
          <a:xfrm>
            <a:off x="5166360" y="1444752"/>
            <a:ext cx="3657600" cy="777240"/>
          </a:xfrm>
          <a:prstGeom prst="rect">
            <a:avLst/>
          </a:prstGeom>
          <a:solidFill>
            <a:srgbClr val="EAF4F9"/>
          </a:solidFill>
          <a:ln w="12700">
            <a:solidFill>
              <a:srgbClr val="C5E0EE"/>
            </a:solidFill>
            <a:prstDash val="solid"/>
          </a:ln>
        </p:spPr>
      </p:sp>
      <p:sp>
        <p:nvSpPr>
          <p:cNvPr id="24" name="Text 21"/>
          <p:cNvSpPr/>
          <p:nvPr/>
        </p:nvSpPr>
        <p:spPr>
          <a:xfrm>
            <a:off x="5230368" y="1472184"/>
            <a:ext cx="3529584" cy="274320"/>
          </a:xfrm>
          <a:prstGeom prst="rect">
            <a:avLst/>
          </a:prstGeom>
          <a:noFill/>
          <a:ln/>
        </p:spPr>
        <p:txBody>
          <a:bodyPr wrap="square" rtlCol="0" anchor="ctr"/>
          <a:lstStyle/>
          <a:p>
            <a:pPr indent="0" marL="0">
              <a:buNone/>
            </a:pPr>
            <a:r>
              <a:rPr lang="en-US" sz="1150" b="1" dirty="0">
                <a:solidFill>
                  <a:srgbClr val="0D3B4F"/>
                </a:solidFill>
                <a:latin typeface="Calibri" pitchFamily="34" charset="0"/>
                <a:ea typeface="Calibri" pitchFamily="34" charset="-122"/>
                <a:cs typeface="Calibri" pitchFamily="34" charset="-120"/>
              </a:rPr>
              <a:t>Personal docente / administrativo</a:t>
            </a:r>
            <a:endParaRPr lang="en-US" sz="1150" dirty="0"/>
          </a:p>
        </p:txBody>
      </p:sp>
      <p:sp>
        <p:nvSpPr>
          <p:cNvPr id="25" name="Text 22"/>
          <p:cNvSpPr/>
          <p:nvPr/>
        </p:nvSpPr>
        <p:spPr>
          <a:xfrm>
            <a:off x="5230368" y="1746504"/>
            <a:ext cx="3529584" cy="438912"/>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Registra nuevos reportes cuando detecta una falla.</a:t>
            </a:r>
            <a:endParaRPr lang="en-US" sz="1050" dirty="0"/>
          </a:p>
        </p:txBody>
      </p:sp>
      <p:sp>
        <p:nvSpPr>
          <p:cNvPr id="26" name="Shape 23"/>
          <p:cNvSpPr/>
          <p:nvPr/>
        </p:nvSpPr>
        <p:spPr>
          <a:xfrm>
            <a:off x="5166360" y="2304288"/>
            <a:ext cx="3657600" cy="777240"/>
          </a:xfrm>
          <a:prstGeom prst="rect">
            <a:avLst/>
          </a:prstGeom>
          <a:solidFill>
            <a:srgbClr val="DDEEF7"/>
          </a:solidFill>
          <a:ln w="12700">
            <a:solidFill>
              <a:srgbClr val="C5E0EE"/>
            </a:solidFill>
            <a:prstDash val="solid"/>
          </a:ln>
        </p:spPr>
      </p:sp>
      <p:sp>
        <p:nvSpPr>
          <p:cNvPr id="27" name="Text 24"/>
          <p:cNvSpPr/>
          <p:nvPr/>
        </p:nvSpPr>
        <p:spPr>
          <a:xfrm>
            <a:off x="5230368" y="2331720"/>
            <a:ext cx="3529584" cy="274320"/>
          </a:xfrm>
          <a:prstGeom prst="rect">
            <a:avLst/>
          </a:prstGeom>
          <a:noFill/>
          <a:ln/>
        </p:spPr>
        <p:txBody>
          <a:bodyPr wrap="square" rtlCol="0" anchor="ctr"/>
          <a:lstStyle/>
          <a:p>
            <a:pPr indent="0" marL="0">
              <a:buNone/>
            </a:pPr>
            <a:r>
              <a:rPr lang="en-US" sz="1150" b="1" dirty="0">
                <a:solidFill>
                  <a:srgbClr val="0D3B4F"/>
                </a:solidFill>
                <a:latin typeface="Calibri" pitchFamily="34" charset="0"/>
                <a:ea typeface="Calibri" pitchFamily="34" charset="-122"/>
                <a:cs typeface="Calibri" pitchFamily="34" charset="-120"/>
              </a:rPr>
              <a:t>Trabajador de mantenimiento</a:t>
            </a:r>
            <a:endParaRPr lang="en-US" sz="1150" dirty="0"/>
          </a:p>
        </p:txBody>
      </p:sp>
      <p:sp>
        <p:nvSpPr>
          <p:cNvPr id="28" name="Text 25"/>
          <p:cNvSpPr/>
          <p:nvPr/>
        </p:nvSpPr>
        <p:spPr>
          <a:xfrm>
            <a:off x="5230368" y="2606040"/>
            <a:ext cx="3529584" cy="438912"/>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Consulta los reportes asignados, actualiza el estado y registra qué materiales usó.</a:t>
            </a:r>
            <a:endParaRPr lang="en-US" sz="1050" dirty="0"/>
          </a:p>
        </p:txBody>
      </p:sp>
      <p:sp>
        <p:nvSpPr>
          <p:cNvPr id="29" name="Shape 26"/>
          <p:cNvSpPr/>
          <p:nvPr/>
        </p:nvSpPr>
        <p:spPr>
          <a:xfrm>
            <a:off x="5166360" y="3163824"/>
            <a:ext cx="3657600" cy="777240"/>
          </a:xfrm>
          <a:prstGeom prst="rect">
            <a:avLst/>
          </a:prstGeom>
          <a:solidFill>
            <a:srgbClr val="EAF4F9"/>
          </a:solidFill>
          <a:ln w="12700">
            <a:solidFill>
              <a:srgbClr val="C5E0EE"/>
            </a:solidFill>
            <a:prstDash val="solid"/>
          </a:ln>
        </p:spPr>
      </p:sp>
      <p:sp>
        <p:nvSpPr>
          <p:cNvPr id="30" name="Text 27"/>
          <p:cNvSpPr/>
          <p:nvPr/>
        </p:nvSpPr>
        <p:spPr>
          <a:xfrm>
            <a:off x="5230368" y="3191256"/>
            <a:ext cx="3529584" cy="274320"/>
          </a:xfrm>
          <a:prstGeom prst="rect">
            <a:avLst/>
          </a:prstGeom>
          <a:noFill/>
          <a:ln/>
        </p:spPr>
        <p:txBody>
          <a:bodyPr wrap="square" rtlCol="0" anchor="ctr"/>
          <a:lstStyle/>
          <a:p>
            <a:pPr indent="0" marL="0">
              <a:buNone/>
            </a:pPr>
            <a:r>
              <a:rPr lang="en-US" sz="1150" b="1" dirty="0">
                <a:solidFill>
                  <a:srgbClr val="0D3B4F"/>
                </a:solidFill>
                <a:latin typeface="Calibri" pitchFamily="34" charset="0"/>
                <a:ea typeface="Calibri" pitchFamily="34" charset="-122"/>
                <a:cs typeface="Calibri" pitchFamily="34" charset="-120"/>
              </a:rPr>
              <a:t>Jefe de mantenimiento</a:t>
            </a:r>
            <a:endParaRPr lang="en-US" sz="1150" dirty="0"/>
          </a:p>
        </p:txBody>
      </p:sp>
      <p:sp>
        <p:nvSpPr>
          <p:cNvPr id="31" name="Text 28"/>
          <p:cNvSpPr/>
          <p:nvPr/>
        </p:nvSpPr>
        <p:spPr>
          <a:xfrm>
            <a:off x="5230368" y="3465576"/>
            <a:ext cx="3529584" cy="438912"/>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Asigna trabajadores a cada reporte, da seguimiento y genera reportes de desempeño.</a:t>
            </a:r>
            <a:endParaRPr lang="en-US" sz="1050" dirty="0"/>
          </a:p>
        </p:txBody>
      </p:sp>
      <p:sp>
        <p:nvSpPr>
          <p:cNvPr id="32" name="Shape 29"/>
          <p:cNvSpPr/>
          <p:nvPr/>
        </p:nvSpPr>
        <p:spPr>
          <a:xfrm>
            <a:off x="5166360" y="4023360"/>
            <a:ext cx="3657600" cy="777240"/>
          </a:xfrm>
          <a:prstGeom prst="rect">
            <a:avLst/>
          </a:prstGeom>
          <a:solidFill>
            <a:srgbClr val="DDEEF7"/>
          </a:solidFill>
          <a:ln w="12700">
            <a:solidFill>
              <a:srgbClr val="C5E0EE"/>
            </a:solidFill>
            <a:prstDash val="solid"/>
          </a:ln>
        </p:spPr>
      </p:sp>
      <p:sp>
        <p:nvSpPr>
          <p:cNvPr id="33" name="Text 30"/>
          <p:cNvSpPr/>
          <p:nvPr/>
        </p:nvSpPr>
        <p:spPr>
          <a:xfrm>
            <a:off x="5230368" y="4050792"/>
            <a:ext cx="3529584" cy="274320"/>
          </a:xfrm>
          <a:prstGeom prst="rect">
            <a:avLst/>
          </a:prstGeom>
          <a:noFill/>
          <a:ln/>
        </p:spPr>
        <p:txBody>
          <a:bodyPr wrap="square" rtlCol="0" anchor="ctr"/>
          <a:lstStyle/>
          <a:p>
            <a:pPr indent="0" marL="0">
              <a:buNone/>
            </a:pPr>
            <a:r>
              <a:rPr lang="en-US" sz="1150" b="1" dirty="0">
                <a:solidFill>
                  <a:srgbClr val="0D3B4F"/>
                </a:solidFill>
                <a:latin typeface="Calibri" pitchFamily="34" charset="0"/>
                <a:ea typeface="Calibri" pitchFamily="34" charset="-122"/>
                <a:cs typeface="Calibri" pitchFamily="34" charset="-120"/>
              </a:rPr>
              <a:t>Director / Administrador</a:t>
            </a:r>
            <a:endParaRPr lang="en-US" sz="1150" dirty="0"/>
          </a:p>
        </p:txBody>
      </p:sp>
      <p:sp>
        <p:nvSpPr>
          <p:cNvPr id="34" name="Text 31"/>
          <p:cNvSpPr/>
          <p:nvPr/>
        </p:nvSpPr>
        <p:spPr>
          <a:xfrm>
            <a:off x="5230368" y="4325112"/>
            <a:ext cx="3529584" cy="438912"/>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Consulta estadísticas generales: fallas por área, tiempos de respuesta, eficiencia.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3B4F"/>
          </a:solidFill>
          <a:ln w="12700">
            <a:solidFill>
              <a:srgbClr val="0D3B4F"/>
            </a:solidFill>
            <a:prstDash val="solid"/>
          </a:ln>
        </p:spPr>
      </p:sp>
      <p:pic>
        <p:nvPicPr>
          <p:cNvPr id="3" name="Image 0" descr="preencoded.png">    </p:cNvPr>
          <p:cNvPicPr>
            <a:picLocks noChangeAspect="1"/>
          </p:cNvPicPr>
          <p:nvPr/>
        </p:nvPicPr>
        <p:blipFill>
          <a:blip r:embed="rId1"/>
          <a:stretch>
            <a:fillRect/>
          </a:stretch>
        </p:blipFill>
        <p:spPr>
          <a:xfrm>
            <a:off x="201168" y="155448"/>
            <a:ext cx="548640" cy="548640"/>
          </a:xfrm>
          <a:prstGeom prst="rect">
            <a:avLst/>
          </a:prstGeom>
        </p:spPr>
      </p:pic>
      <p:sp>
        <p:nvSpPr>
          <p:cNvPr id="4" name="Text 1"/>
          <p:cNvSpPr/>
          <p:nvPr/>
        </p:nvSpPr>
        <p:spPr>
          <a:xfrm>
            <a:off x="914400" y="91440"/>
            <a:ext cx="7955280" cy="685800"/>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Procesos principales y Tablas de la Base de Datos</a:t>
            </a:r>
            <a:endParaRPr lang="en-US" sz="2200" dirty="0"/>
          </a:p>
        </p:txBody>
      </p:sp>
      <p:sp>
        <p:nvSpPr>
          <p:cNvPr id="5" name="Text 2"/>
          <p:cNvSpPr/>
          <p:nvPr/>
        </p:nvSpPr>
        <p:spPr>
          <a:xfrm>
            <a:off x="228600" y="914400"/>
            <a:ext cx="4389120" cy="365760"/>
          </a:xfrm>
          <a:prstGeom prst="rect">
            <a:avLst/>
          </a:prstGeom>
          <a:noFill/>
          <a:ln/>
        </p:spPr>
        <p:txBody>
          <a:bodyPr wrap="square" rtlCol="0" anchor="ctr"/>
          <a:lstStyle/>
          <a:p>
            <a:pPr indent="0" marL="0">
              <a:buNone/>
            </a:pPr>
            <a:r>
              <a:rPr lang="en-US" sz="1400" b="1" dirty="0">
                <a:solidFill>
                  <a:srgbClr val="1A6B8A"/>
                </a:solidFill>
                <a:latin typeface="Trebuchet MS" pitchFamily="34" charset="0"/>
                <a:ea typeface="Trebuchet MS" pitchFamily="34" charset="-122"/>
                <a:cs typeface="Trebuchet MS" pitchFamily="34" charset="-120"/>
              </a:rPr>
              <a:t>¿Cómo funciona el sistema paso a paso?</a:t>
            </a:r>
            <a:endParaRPr lang="en-US" sz="1400" dirty="0"/>
          </a:p>
        </p:txBody>
      </p:sp>
      <p:sp>
        <p:nvSpPr>
          <p:cNvPr id="6" name="Shape 3"/>
          <p:cNvSpPr/>
          <p:nvPr/>
        </p:nvSpPr>
        <p:spPr>
          <a:xfrm>
            <a:off x="228600" y="1325880"/>
            <a:ext cx="457200" cy="457200"/>
          </a:xfrm>
          <a:prstGeom prst="ellipse">
            <a:avLst/>
          </a:prstGeom>
          <a:solidFill>
            <a:srgbClr val="F5A623"/>
          </a:solidFill>
          <a:ln w="12700">
            <a:solidFill>
              <a:srgbClr val="F5A623"/>
            </a:solidFill>
            <a:prstDash val="solid"/>
          </a:ln>
        </p:spPr>
      </p:sp>
      <p:sp>
        <p:nvSpPr>
          <p:cNvPr id="7" name="Text 4"/>
          <p:cNvSpPr/>
          <p:nvPr/>
        </p:nvSpPr>
        <p:spPr>
          <a:xfrm>
            <a:off x="228600" y="1344168"/>
            <a:ext cx="457200" cy="420624"/>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1</a:t>
            </a:r>
            <a:endParaRPr lang="en-US" sz="1600" dirty="0"/>
          </a:p>
        </p:txBody>
      </p:sp>
      <p:sp>
        <p:nvSpPr>
          <p:cNvPr id="8" name="Shape 5"/>
          <p:cNvSpPr/>
          <p:nvPr/>
        </p:nvSpPr>
        <p:spPr>
          <a:xfrm>
            <a:off x="420624" y="1783080"/>
            <a:ext cx="64008" cy="457200"/>
          </a:xfrm>
          <a:prstGeom prst="rect">
            <a:avLst/>
          </a:prstGeom>
          <a:solidFill>
            <a:srgbClr val="F5A623"/>
          </a:solidFill>
          <a:ln w="12700">
            <a:solidFill>
              <a:srgbClr val="F5A623"/>
            </a:solidFill>
            <a:prstDash val="solid"/>
          </a:ln>
        </p:spPr>
      </p:sp>
      <p:sp>
        <p:nvSpPr>
          <p:cNvPr id="9" name="Text 6"/>
          <p:cNvSpPr/>
          <p:nvPr/>
        </p:nvSpPr>
        <p:spPr>
          <a:xfrm>
            <a:off x="795528" y="1325880"/>
            <a:ext cx="3749040" cy="292608"/>
          </a:xfrm>
          <a:prstGeom prst="rect">
            <a:avLst/>
          </a:prstGeom>
          <a:noFill/>
          <a:ln/>
        </p:spPr>
        <p:txBody>
          <a:bodyPr wrap="square" rtlCol="0" anchor="ctr"/>
          <a:lstStyle/>
          <a:p>
            <a:pPr indent="0" marL="0">
              <a:buNone/>
            </a:pPr>
            <a:r>
              <a:rPr lang="en-US" sz="1300" b="1" dirty="0">
                <a:solidFill>
                  <a:srgbClr val="0D3B4F"/>
                </a:solidFill>
                <a:latin typeface="Calibri" pitchFamily="34" charset="0"/>
                <a:ea typeface="Calibri" pitchFamily="34" charset="-122"/>
                <a:cs typeface="Calibri" pitchFamily="34" charset="-120"/>
              </a:rPr>
              <a:t>Registrar reporte</a:t>
            </a:r>
            <a:endParaRPr lang="en-US" sz="1300" dirty="0"/>
          </a:p>
        </p:txBody>
      </p:sp>
      <p:sp>
        <p:nvSpPr>
          <p:cNvPr id="10" name="Text 7"/>
          <p:cNvSpPr/>
          <p:nvPr/>
        </p:nvSpPr>
        <p:spPr>
          <a:xfrm>
            <a:off x="795528" y="1618488"/>
            <a:ext cx="3749040" cy="548640"/>
          </a:xfrm>
          <a:prstGeom prst="rect">
            <a:avLst/>
          </a:prstGeom>
          <a:noFill/>
          <a:ln/>
        </p:spPr>
        <p:txBody>
          <a:bodyPr wrap="square" rtlCol="0" anchor="ctr"/>
          <a:lstStyle/>
          <a:p>
            <a:pPr indent="0" marL="0">
              <a:buNone/>
            </a:pPr>
            <a:r>
              <a:rPr lang="en-US" sz="1100" dirty="0">
                <a:solidFill>
                  <a:srgbClr val="4A6572"/>
                </a:solidFill>
                <a:latin typeface="Calibri" pitchFamily="34" charset="0"/>
                <a:ea typeface="Calibri" pitchFamily="34" charset="-122"/>
                <a:cs typeface="Calibri" pitchFamily="34" charset="-120"/>
              </a:rPr>
              <a:t>Alguien detecta una falla y la ingresa al sistema con todos los datos (área, descripción, prioridad).</a:t>
            </a:r>
            <a:endParaRPr lang="en-US" sz="1100" dirty="0"/>
          </a:p>
        </p:txBody>
      </p:sp>
      <p:sp>
        <p:nvSpPr>
          <p:cNvPr id="11" name="Shape 8"/>
          <p:cNvSpPr/>
          <p:nvPr/>
        </p:nvSpPr>
        <p:spPr>
          <a:xfrm>
            <a:off x="228600" y="2240280"/>
            <a:ext cx="457200" cy="457200"/>
          </a:xfrm>
          <a:prstGeom prst="ellipse">
            <a:avLst/>
          </a:prstGeom>
          <a:solidFill>
            <a:srgbClr val="F5A623"/>
          </a:solidFill>
          <a:ln w="12700">
            <a:solidFill>
              <a:srgbClr val="F5A623"/>
            </a:solidFill>
            <a:prstDash val="solid"/>
          </a:ln>
        </p:spPr>
      </p:sp>
      <p:sp>
        <p:nvSpPr>
          <p:cNvPr id="12" name="Text 9"/>
          <p:cNvSpPr/>
          <p:nvPr/>
        </p:nvSpPr>
        <p:spPr>
          <a:xfrm>
            <a:off x="228600" y="2258568"/>
            <a:ext cx="457200" cy="420624"/>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2</a:t>
            </a:r>
            <a:endParaRPr lang="en-US" sz="1600" dirty="0"/>
          </a:p>
        </p:txBody>
      </p:sp>
      <p:sp>
        <p:nvSpPr>
          <p:cNvPr id="13" name="Shape 10"/>
          <p:cNvSpPr/>
          <p:nvPr/>
        </p:nvSpPr>
        <p:spPr>
          <a:xfrm>
            <a:off x="420624" y="2697480"/>
            <a:ext cx="64008" cy="457200"/>
          </a:xfrm>
          <a:prstGeom prst="rect">
            <a:avLst/>
          </a:prstGeom>
          <a:solidFill>
            <a:srgbClr val="F5A623"/>
          </a:solidFill>
          <a:ln w="12700">
            <a:solidFill>
              <a:srgbClr val="F5A623"/>
            </a:solidFill>
            <a:prstDash val="solid"/>
          </a:ln>
        </p:spPr>
      </p:sp>
      <p:sp>
        <p:nvSpPr>
          <p:cNvPr id="14" name="Text 11"/>
          <p:cNvSpPr/>
          <p:nvPr/>
        </p:nvSpPr>
        <p:spPr>
          <a:xfrm>
            <a:off x="795528" y="2240280"/>
            <a:ext cx="3749040" cy="292608"/>
          </a:xfrm>
          <a:prstGeom prst="rect">
            <a:avLst/>
          </a:prstGeom>
          <a:noFill/>
          <a:ln/>
        </p:spPr>
        <p:txBody>
          <a:bodyPr wrap="square" rtlCol="0" anchor="ctr"/>
          <a:lstStyle/>
          <a:p>
            <a:pPr indent="0" marL="0">
              <a:buNone/>
            </a:pPr>
            <a:r>
              <a:rPr lang="en-US" sz="1300" b="1" dirty="0">
                <a:solidFill>
                  <a:srgbClr val="0D3B4F"/>
                </a:solidFill>
                <a:latin typeface="Calibri" pitchFamily="34" charset="0"/>
                <a:ea typeface="Calibri" pitchFamily="34" charset="-122"/>
                <a:cs typeface="Calibri" pitchFamily="34" charset="-120"/>
              </a:rPr>
              <a:t>Asignar trabajador</a:t>
            </a:r>
            <a:endParaRPr lang="en-US" sz="1300" dirty="0"/>
          </a:p>
        </p:txBody>
      </p:sp>
      <p:sp>
        <p:nvSpPr>
          <p:cNvPr id="15" name="Text 12"/>
          <p:cNvSpPr/>
          <p:nvPr/>
        </p:nvSpPr>
        <p:spPr>
          <a:xfrm>
            <a:off x="795528" y="2532888"/>
            <a:ext cx="3749040" cy="548640"/>
          </a:xfrm>
          <a:prstGeom prst="rect">
            <a:avLst/>
          </a:prstGeom>
          <a:noFill/>
          <a:ln/>
        </p:spPr>
        <p:txBody>
          <a:bodyPr wrap="square" rtlCol="0" anchor="ctr"/>
          <a:lstStyle/>
          <a:p>
            <a:pPr indent="0" marL="0">
              <a:buNone/>
            </a:pPr>
            <a:r>
              <a:rPr lang="en-US" sz="1100" dirty="0">
                <a:solidFill>
                  <a:srgbClr val="4A6572"/>
                </a:solidFill>
                <a:latin typeface="Calibri" pitchFamily="34" charset="0"/>
                <a:ea typeface="Calibri" pitchFamily="34" charset="-122"/>
                <a:cs typeface="Calibri" pitchFamily="34" charset="-120"/>
              </a:rPr>
              <a:t>El jefe de mantenimiento revisa el reporte y asigna a un trabajador disponible según su especialidad.</a:t>
            </a:r>
            <a:endParaRPr lang="en-US" sz="1100" dirty="0"/>
          </a:p>
        </p:txBody>
      </p:sp>
      <p:sp>
        <p:nvSpPr>
          <p:cNvPr id="16" name="Shape 13"/>
          <p:cNvSpPr/>
          <p:nvPr/>
        </p:nvSpPr>
        <p:spPr>
          <a:xfrm>
            <a:off x="228600" y="3154680"/>
            <a:ext cx="457200" cy="457200"/>
          </a:xfrm>
          <a:prstGeom prst="ellipse">
            <a:avLst/>
          </a:prstGeom>
          <a:solidFill>
            <a:srgbClr val="F5A623"/>
          </a:solidFill>
          <a:ln w="12700">
            <a:solidFill>
              <a:srgbClr val="F5A623"/>
            </a:solidFill>
            <a:prstDash val="solid"/>
          </a:ln>
        </p:spPr>
      </p:sp>
      <p:sp>
        <p:nvSpPr>
          <p:cNvPr id="17" name="Text 14"/>
          <p:cNvSpPr/>
          <p:nvPr/>
        </p:nvSpPr>
        <p:spPr>
          <a:xfrm>
            <a:off x="228600" y="3172968"/>
            <a:ext cx="457200" cy="420624"/>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3</a:t>
            </a:r>
            <a:endParaRPr lang="en-US" sz="1600" dirty="0"/>
          </a:p>
        </p:txBody>
      </p:sp>
      <p:sp>
        <p:nvSpPr>
          <p:cNvPr id="18" name="Shape 15"/>
          <p:cNvSpPr/>
          <p:nvPr/>
        </p:nvSpPr>
        <p:spPr>
          <a:xfrm>
            <a:off x="420624" y="3611880"/>
            <a:ext cx="64008" cy="457200"/>
          </a:xfrm>
          <a:prstGeom prst="rect">
            <a:avLst/>
          </a:prstGeom>
          <a:solidFill>
            <a:srgbClr val="F5A623"/>
          </a:solidFill>
          <a:ln w="12700">
            <a:solidFill>
              <a:srgbClr val="F5A623"/>
            </a:solidFill>
            <a:prstDash val="solid"/>
          </a:ln>
        </p:spPr>
      </p:sp>
      <p:sp>
        <p:nvSpPr>
          <p:cNvPr id="19" name="Text 16"/>
          <p:cNvSpPr/>
          <p:nvPr/>
        </p:nvSpPr>
        <p:spPr>
          <a:xfrm>
            <a:off x="795528" y="3154680"/>
            <a:ext cx="3749040" cy="292608"/>
          </a:xfrm>
          <a:prstGeom prst="rect">
            <a:avLst/>
          </a:prstGeom>
          <a:noFill/>
          <a:ln/>
        </p:spPr>
        <p:txBody>
          <a:bodyPr wrap="square" rtlCol="0" anchor="ctr"/>
          <a:lstStyle/>
          <a:p>
            <a:pPr indent="0" marL="0">
              <a:buNone/>
            </a:pPr>
            <a:r>
              <a:rPr lang="en-US" sz="1300" b="1" dirty="0">
                <a:solidFill>
                  <a:srgbClr val="0D3B4F"/>
                </a:solidFill>
                <a:latin typeface="Calibri" pitchFamily="34" charset="0"/>
                <a:ea typeface="Calibri" pitchFamily="34" charset="-122"/>
                <a:cs typeface="Calibri" pitchFamily="34" charset="-120"/>
              </a:rPr>
              <a:t>Dar seguimiento</a:t>
            </a:r>
            <a:endParaRPr lang="en-US" sz="1300" dirty="0"/>
          </a:p>
        </p:txBody>
      </p:sp>
      <p:sp>
        <p:nvSpPr>
          <p:cNvPr id="20" name="Text 17"/>
          <p:cNvSpPr/>
          <p:nvPr/>
        </p:nvSpPr>
        <p:spPr>
          <a:xfrm>
            <a:off x="795528" y="3447288"/>
            <a:ext cx="3749040" cy="548640"/>
          </a:xfrm>
          <a:prstGeom prst="rect">
            <a:avLst/>
          </a:prstGeom>
          <a:noFill/>
          <a:ln/>
        </p:spPr>
        <p:txBody>
          <a:bodyPr wrap="square" rtlCol="0" anchor="ctr"/>
          <a:lstStyle/>
          <a:p>
            <a:pPr indent="0" marL="0">
              <a:buNone/>
            </a:pPr>
            <a:r>
              <a:rPr lang="en-US" sz="1100" dirty="0">
                <a:solidFill>
                  <a:srgbClr val="4A6572"/>
                </a:solidFill>
                <a:latin typeface="Calibri" pitchFamily="34" charset="0"/>
                <a:ea typeface="Calibri" pitchFamily="34" charset="-122"/>
                <a:cs typeface="Calibri" pitchFamily="34" charset="-120"/>
              </a:rPr>
              <a:t>El trabajador actualiza el estado: En proceso. Se registra la fecha de inicio de atención.</a:t>
            </a:r>
            <a:endParaRPr lang="en-US" sz="1100" dirty="0"/>
          </a:p>
        </p:txBody>
      </p:sp>
      <p:sp>
        <p:nvSpPr>
          <p:cNvPr id="21" name="Shape 18"/>
          <p:cNvSpPr/>
          <p:nvPr/>
        </p:nvSpPr>
        <p:spPr>
          <a:xfrm>
            <a:off x="228600" y="4069080"/>
            <a:ext cx="457200" cy="457200"/>
          </a:xfrm>
          <a:prstGeom prst="ellipse">
            <a:avLst/>
          </a:prstGeom>
          <a:solidFill>
            <a:srgbClr val="F5A623"/>
          </a:solidFill>
          <a:ln w="12700">
            <a:solidFill>
              <a:srgbClr val="F5A623"/>
            </a:solidFill>
            <a:prstDash val="solid"/>
          </a:ln>
        </p:spPr>
      </p:sp>
      <p:sp>
        <p:nvSpPr>
          <p:cNvPr id="22" name="Text 19"/>
          <p:cNvSpPr/>
          <p:nvPr/>
        </p:nvSpPr>
        <p:spPr>
          <a:xfrm>
            <a:off x="228600" y="4087368"/>
            <a:ext cx="457200" cy="420624"/>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4</a:t>
            </a:r>
            <a:endParaRPr lang="en-US" sz="1600" dirty="0"/>
          </a:p>
        </p:txBody>
      </p:sp>
      <p:sp>
        <p:nvSpPr>
          <p:cNvPr id="23" name="Text 20"/>
          <p:cNvSpPr/>
          <p:nvPr/>
        </p:nvSpPr>
        <p:spPr>
          <a:xfrm>
            <a:off x="795528" y="4069080"/>
            <a:ext cx="3749040" cy="292608"/>
          </a:xfrm>
          <a:prstGeom prst="rect">
            <a:avLst/>
          </a:prstGeom>
          <a:noFill/>
          <a:ln/>
        </p:spPr>
        <p:txBody>
          <a:bodyPr wrap="square" rtlCol="0" anchor="ctr"/>
          <a:lstStyle/>
          <a:p>
            <a:pPr indent="0" marL="0">
              <a:buNone/>
            </a:pPr>
            <a:r>
              <a:rPr lang="en-US" sz="1300" b="1" dirty="0">
                <a:solidFill>
                  <a:srgbClr val="0D3B4F"/>
                </a:solidFill>
                <a:latin typeface="Calibri" pitchFamily="34" charset="0"/>
                <a:ea typeface="Calibri" pitchFamily="34" charset="-122"/>
                <a:cs typeface="Calibri" pitchFamily="34" charset="-120"/>
              </a:rPr>
              <a:t>Cerrar reporte</a:t>
            </a:r>
            <a:endParaRPr lang="en-US" sz="1300" dirty="0"/>
          </a:p>
        </p:txBody>
      </p:sp>
      <p:sp>
        <p:nvSpPr>
          <p:cNvPr id="24" name="Text 21"/>
          <p:cNvSpPr/>
          <p:nvPr/>
        </p:nvSpPr>
        <p:spPr>
          <a:xfrm>
            <a:off x="795528" y="4361688"/>
            <a:ext cx="3749040" cy="548640"/>
          </a:xfrm>
          <a:prstGeom prst="rect">
            <a:avLst/>
          </a:prstGeom>
          <a:noFill/>
          <a:ln/>
        </p:spPr>
        <p:txBody>
          <a:bodyPr wrap="square" rtlCol="0" anchor="ctr"/>
          <a:lstStyle/>
          <a:p>
            <a:pPr indent="0" marL="0">
              <a:buNone/>
            </a:pPr>
            <a:r>
              <a:rPr lang="en-US" sz="1100" dirty="0">
                <a:solidFill>
                  <a:srgbClr val="4A6572"/>
                </a:solidFill>
                <a:latin typeface="Calibri" pitchFamily="34" charset="0"/>
                <a:ea typeface="Calibri" pitchFamily="34" charset="-122"/>
                <a:cs typeface="Calibri" pitchFamily="34" charset="-120"/>
              </a:rPr>
              <a:t>Al terminar, se cambia el estado a Atendido, se anotan los materiales usados y observaciones finales.</a:t>
            </a:r>
            <a:endParaRPr lang="en-US" sz="1100" dirty="0"/>
          </a:p>
        </p:txBody>
      </p:sp>
      <p:sp>
        <p:nvSpPr>
          <p:cNvPr id="25" name="Text 22"/>
          <p:cNvSpPr/>
          <p:nvPr/>
        </p:nvSpPr>
        <p:spPr>
          <a:xfrm>
            <a:off x="4846320" y="914400"/>
            <a:ext cx="4069080" cy="365760"/>
          </a:xfrm>
          <a:prstGeom prst="rect">
            <a:avLst/>
          </a:prstGeom>
          <a:noFill/>
          <a:ln/>
        </p:spPr>
        <p:txBody>
          <a:bodyPr wrap="square" rtlCol="0" anchor="ctr"/>
          <a:lstStyle/>
          <a:p>
            <a:pPr indent="0" marL="0">
              <a:buNone/>
            </a:pPr>
            <a:r>
              <a:rPr lang="en-US" sz="1400" b="1" dirty="0">
                <a:solidFill>
                  <a:srgbClr val="1A6B8A"/>
                </a:solidFill>
                <a:latin typeface="Trebuchet MS" pitchFamily="34" charset="0"/>
                <a:ea typeface="Trebuchet MS" pitchFamily="34" charset="-122"/>
                <a:cs typeface="Trebuchet MS" pitchFamily="34" charset="-120"/>
              </a:rPr>
              <a:t>Tablas propuestas</a:t>
            </a:r>
            <a:endParaRPr lang="en-US" sz="1400" dirty="0"/>
          </a:p>
        </p:txBody>
      </p:sp>
      <p:sp>
        <p:nvSpPr>
          <p:cNvPr id="26" name="Shape 23"/>
          <p:cNvSpPr/>
          <p:nvPr/>
        </p:nvSpPr>
        <p:spPr>
          <a:xfrm>
            <a:off x="4846320" y="1325880"/>
            <a:ext cx="4069080" cy="658368"/>
          </a:xfrm>
          <a:prstGeom prst="rect">
            <a:avLst/>
          </a:prstGeom>
          <a:solidFill>
            <a:srgbClr val="DDEEF7"/>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27" name="Shape 24"/>
          <p:cNvSpPr/>
          <p:nvPr/>
        </p:nvSpPr>
        <p:spPr>
          <a:xfrm>
            <a:off x="4846320" y="1325880"/>
            <a:ext cx="109728" cy="658368"/>
          </a:xfrm>
          <a:prstGeom prst="rect">
            <a:avLst/>
          </a:prstGeom>
          <a:solidFill>
            <a:srgbClr val="1A6B8A"/>
          </a:solidFill>
          <a:ln w="12700">
            <a:solidFill>
              <a:srgbClr val="1A6B8A"/>
            </a:solidFill>
            <a:prstDash val="solid"/>
          </a:ln>
        </p:spPr>
      </p:sp>
      <p:sp>
        <p:nvSpPr>
          <p:cNvPr id="28" name="Text 25"/>
          <p:cNvSpPr/>
          <p:nvPr/>
        </p:nvSpPr>
        <p:spPr>
          <a:xfrm>
            <a:off x="5029200" y="1362456"/>
            <a:ext cx="3794760" cy="256032"/>
          </a:xfrm>
          <a:prstGeom prst="rect">
            <a:avLst/>
          </a:prstGeom>
          <a:noFill/>
          <a:ln/>
        </p:spPr>
        <p:txBody>
          <a:bodyPr wrap="square" rtlCol="0" anchor="ctr"/>
          <a:lstStyle/>
          <a:p>
            <a:pPr indent="0" marL="0">
              <a:buNone/>
            </a:pPr>
            <a:r>
              <a:rPr lang="en-US" sz="1250" b="1" dirty="0">
                <a:solidFill>
                  <a:srgbClr val="0D3B4F"/>
                </a:solidFill>
                <a:latin typeface="Calibri" pitchFamily="34" charset="0"/>
                <a:ea typeface="Calibri" pitchFamily="34" charset="-122"/>
                <a:cs typeface="Calibri" pitchFamily="34" charset="-120"/>
              </a:rPr>
              <a:t>REPORTES</a:t>
            </a:r>
            <a:endParaRPr lang="en-US" sz="1250" dirty="0"/>
          </a:p>
        </p:txBody>
      </p:sp>
      <p:sp>
        <p:nvSpPr>
          <p:cNvPr id="29" name="Text 26"/>
          <p:cNvSpPr/>
          <p:nvPr/>
        </p:nvSpPr>
        <p:spPr>
          <a:xfrm>
            <a:off x="5029200" y="1627632"/>
            <a:ext cx="3794760" cy="320040"/>
          </a:xfrm>
          <a:prstGeom prst="rect">
            <a:avLst/>
          </a:prstGeom>
          <a:noFill/>
          <a:ln/>
        </p:spPr>
        <p:txBody>
          <a:bodyPr wrap="square" rtlCol="0" anchor="ctr"/>
          <a:lstStyle/>
          <a:p>
            <a:pPr indent="0" marL="0">
              <a:buNone/>
            </a:pPr>
            <a:r>
              <a:rPr lang="en-US" sz="1000" i="1" dirty="0">
                <a:solidFill>
                  <a:srgbClr val="4A6572"/>
                </a:solidFill>
                <a:latin typeface="Calibri" pitchFamily="34" charset="0"/>
                <a:ea typeface="Calibri" pitchFamily="34" charset="-122"/>
                <a:cs typeface="Calibri" pitchFamily="34" charset="-120"/>
              </a:rPr>
              <a:t>Campos: id_reporte, descripción, fecha, prioridad, estado, observaciones</a:t>
            </a:r>
            <a:endParaRPr lang="en-US" sz="1000" dirty="0"/>
          </a:p>
        </p:txBody>
      </p:sp>
      <p:sp>
        <p:nvSpPr>
          <p:cNvPr id="30" name="Shape 27"/>
          <p:cNvSpPr/>
          <p:nvPr/>
        </p:nvSpPr>
        <p:spPr>
          <a:xfrm>
            <a:off x="4846320" y="2075688"/>
            <a:ext cx="4069080" cy="658368"/>
          </a:xfrm>
          <a:prstGeom prst="rect">
            <a:avLst/>
          </a:prstGeom>
          <a:solidFill>
            <a:srgbClr val="FFFFFF"/>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31" name="Shape 28"/>
          <p:cNvSpPr/>
          <p:nvPr/>
        </p:nvSpPr>
        <p:spPr>
          <a:xfrm>
            <a:off x="4846320" y="2075688"/>
            <a:ext cx="109728" cy="658368"/>
          </a:xfrm>
          <a:prstGeom prst="rect">
            <a:avLst/>
          </a:prstGeom>
          <a:solidFill>
            <a:srgbClr val="1A6B8A"/>
          </a:solidFill>
          <a:ln w="12700">
            <a:solidFill>
              <a:srgbClr val="1A6B8A"/>
            </a:solidFill>
            <a:prstDash val="solid"/>
          </a:ln>
        </p:spPr>
      </p:sp>
      <p:sp>
        <p:nvSpPr>
          <p:cNvPr id="32" name="Text 29"/>
          <p:cNvSpPr/>
          <p:nvPr/>
        </p:nvSpPr>
        <p:spPr>
          <a:xfrm>
            <a:off x="5029200" y="2112264"/>
            <a:ext cx="3794760" cy="256032"/>
          </a:xfrm>
          <a:prstGeom prst="rect">
            <a:avLst/>
          </a:prstGeom>
          <a:noFill/>
          <a:ln/>
        </p:spPr>
        <p:txBody>
          <a:bodyPr wrap="square" rtlCol="0" anchor="ctr"/>
          <a:lstStyle/>
          <a:p>
            <a:pPr indent="0" marL="0">
              <a:buNone/>
            </a:pPr>
            <a:r>
              <a:rPr lang="en-US" sz="1250" b="1" dirty="0">
                <a:solidFill>
                  <a:srgbClr val="0D3B4F"/>
                </a:solidFill>
                <a:latin typeface="Calibri" pitchFamily="34" charset="0"/>
                <a:ea typeface="Calibri" pitchFamily="34" charset="-122"/>
                <a:cs typeface="Calibri" pitchFamily="34" charset="-120"/>
              </a:rPr>
              <a:t>ÁREAS</a:t>
            </a:r>
            <a:endParaRPr lang="en-US" sz="1250" dirty="0"/>
          </a:p>
        </p:txBody>
      </p:sp>
      <p:sp>
        <p:nvSpPr>
          <p:cNvPr id="33" name="Text 30"/>
          <p:cNvSpPr/>
          <p:nvPr/>
        </p:nvSpPr>
        <p:spPr>
          <a:xfrm>
            <a:off x="5029200" y="2377440"/>
            <a:ext cx="3794760" cy="320040"/>
          </a:xfrm>
          <a:prstGeom prst="rect">
            <a:avLst/>
          </a:prstGeom>
          <a:noFill/>
          <a:ln/>
        </p:spPr>
        <p:txBody>
          <a:bodyPr wrap="square" rtlCol="0" anchor="ctr"/>
          <a:lstStyle/>
          <a:p>
            <a:pPr indent="0" marL="0">
              <a:buNone/>
            </a:pPr>
            <a:r>
              <a:rPr lang="en-US" sz="1000" i="1" dirty="0">
                <a:solidFill>
                  <a:srgbClr val="4A6572"/>
                </a:solidFill>
                <a:latin typeface="Calibri" pitchFamily="34" charset="0"/>
                <a:ea typeface="Calibri" pitchFamily="34" charset="-122"/>
                <a:cs typeface="Calibri" pitchFamily="34" charset="-120"/>
              </a:rPr>
              <a:t>Campos: id_área, nombre_área, edificio, piso</a:t>
            </a:r>
            <a:endParaRPr lang="en-US" sz="1000" dirty="0"/>
          </a:p>
        </p:txBody>
      </p:sp>
      <p:sp>
        <p:nvSpPr>
          <p:cNvPr id="34" name="Shape 31"/>
          <p:cNvSpPr/>
          <p:nvPr/>
        </p:nvSpPr>
        <p:spPr>
          <a:xfrm>
            <a:off x="4846320" y="2825496"/>
            <a:ext cx="4069080" cy="658368"/>
          </a:xfrm>
          <a:prstGeom prst="rect">
            <a:avLst/>
          </a:prstGeom>
          <a:solidFill>
            <a:srgbClr val="DDEEF7"/>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35" name="Shape 32"/>
          <p:cNvSpPr/>
          <p:nvPr/>
        </p:nvSpPr>
        <p:spPr>
          <a:xfrm>
            <a:off x="4846320" y="2825496"/>
            <a:ext cx="109728" cy="658368"/>
          </a:xfrm>
          <a:prstGeom prst="rect">
            <a:avLst/>
          </a:prstGeom>
          <a:solidFill>
            <a:srgbClr val="1A6B8A"/>
          </a:solidFill>
          <a:ln w="12700">
            <a:solidFill>
              <a:srgbClr val="1A6B8A"/>
            </a:solidFill>
            <a:prstDash val="solid"/>
          </a:ln>
        </p:spPr>
      </p:sp>
      <p:sp>
        <p:nvSpPr>
          <p:cNvPr id="36" name="Text 33"/>
          <p:cNvSpPr/>
          <p:nvPr/>
        </p:nvSpPr>
        <p:spPr>
          <a:xfrm>
            <a:off x="5029200" y="2862072"/>
            <a:ext cx="3794760" cy="256032"/>
          </a:xfrm>
          <a:prstGeom prst="rect">
            <a:avLst/>
          </a:prstGeom>
          <a:noFill/>
          <a:ln/>
        </p:spPr>
        <p:txBody>
          <a:bodyPr wrap="square" rtlCol="0" anchor="ctr"/>
          <a:lstStyle/>
          <a:p>
            <a:pPr indent="0" marL="0">
              <a:buNone/>
            </a:pPr>
            <a:r>
              <a:rPr lang="en-US" sz="1250" b="1" dirty="0">
                <a:solidFill>
                  <a:srgbClr val="0D3B4F"/>
                </a:solidFill>
                <a:latin typeface="Calibri" pitchFamily="34" charset="0"/>
                <a:ea typeface="Calibri" pitchFamily="34" charset="-122"/>
                <a:cs typeface="Calibri" pitchFamily="34" charset="-120"/>
              </a:rPr>
              <a:t>TRABAJADORES</a:t>
            </a:r>
            <a:endParaRPr lang="en-US" sz="1250" dirty="0"/>
          </a:p>
        </p:txBody>
      </p:sp>
      <p:sp>
        <p:nvSpPr>
          <p:cNvPr id="37" name="Text 34"/>
          <p:cNvSpPr/>
          <p:nvPr/>
        </p:nvSpPr>
        <p:spPr>
          <a:xfrm>
            <a:off x="5029200" y="3127248"/>
            <a:ext cx="3794760" cy="320040"/>
          </a:xfrm>
          <a:prstGeom prst="rect">
            <a:avLst/>
          </a:prstGeom>
          <a:noFill/>
          <a:ln/>
        </p:spPr>
        <p:txBody>
          <a:bodyPr wrap="square" rtlCol="0" anchor="ctr"/>
          <a:lstStyle/>
          <a:p>
            <a:pPr indent="0" marL="0">
              <a:buNone/>
            </a:pPr>
            <a:r>
              <a:rPr lang="en-US" sz="1000" i="1" dirty="0">
                <a:solidFill>
                  <a:srgbClr val="4A6572"/>
                </a:solidFill>
                <a:latin typeface="Calibri" pitchFamily="34" charset="0"/>
                <a:ea typeface="Calibri" pitchFamily="34" charset="-122"/>
                <a:cs typeface="Calibri" pitchFamily="34" charset="-120"/>
              </a:rPr>
              <a:t>Campos: id_trabajador, nombre, especialidad, teléfono</a:t>
            </a:r>
            <a:endParaRPr lang="en-US" sz="1000" dirty="0"/>
          </a:p>
        </p:txBody>
      </p:sp>
      <p:sp>
        <p:nvSpPr>
          <p:cNvPr id="38" name="Shape 35"/>
          <p:cNvSpPr/>
          <p:nvPr/>
        </p:nvSpPr>
        <p:spPr>
          <a:xfrm>
            <a:off x="4846320" y="3575304"/>
            <a:ext cx="4069080" cy="658368"/>
          </a:xfrm>
          <a:prstGeom prst="rect">
            <a:avLst/>
          </a:prstGeom>
          <a:solidFill>
            <a:srgbClr val="FFFFFF"/>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39" name="Shape 36"/>
          <p:cNvSpPr/>
          <p:nvPr/>
        </p:nvSpPr>
        <p:spPr>
          <a:xfrm>
            <a:off x="4846320" y="3575304"/>
            <a:ext cx="109728" cy="658368"/>
          </a:xfrm>
          <a:prstGeom prst="rect">
            <a:avLst/>
          </a:prstGeom>
          <a:solidFill>
            <a:srgbClr val="1A6B8A"/>
          </a:solidFill>
          <a:ln w="12700">
            <a:solidFill>
              <a:srgbClr val="1A6B8A"/>
            </a:solidFill>
            <a:prstDash val="solid"/>
          </a:ln>
        </p:spPr>
      </p:sp>
      <p:sp>
        <p:nvSpPr>
          <p:cNvPr id="40" name="Text 37"/>
          <p:cNvSpPr/>
          <p:nvPr/>
        </p:nvSpPr>
        <p:spPr>
          <a:xfrm>
            <a:off x="5029200" y="3611880"/>
            <a:ext cx="3794760" cy="256032"/>
          </a:xfrm>
          <a:prstGeom prst="rect">
            <a:avLst/>
          </a:prstGeom>
          <a:noFill/>
          <a:ln/>
        </p:spPr>
        <p:txBody>
          <a:bodyPr wrap="square" rtlCol="0" anchor="ctr"/>
          <a:lstStyle/>
          <a:p>
            <a:pPr indent="0" marL="0">
              <a:buNone/>
            </a:pPr>
            <a:r>
              <a:rPr lang="en-US" sz="1250" b="1" dirty="0">
                <a:solidFill>
                  <a:srgbClr val="0D3B4F"/>
                </a:solidFill>
                <a:latin typeface="Calibri" pitchFamily="34" charset="0"/>
                <a:ea typeface="Calibri" pitchFamily="34" charset="-122"/>
                <a:cs typeface="Calibri" pitchFamily="34" charset="-120"/>
              </a:rPr>
              <a:t>MATERIALES</a:t>
            </a:r>
            <a:endParaRPr lang="en-US" sz="1250" dirty="0"/>
          </a:p>
        </p:txBody>
      </p:sp>
      <p:sp>
        <p:nvSpPr>
          <p:cNvPr id="41" name="Text 38"/>
          <p:cNvSpPr/>
          <p:nvPr/>
        </p:nvSpPr>
        <p:spPr>
          <a:xfrm>
            <a:off x="5029200" y="3877056"/>
            <a:ext cx="3794760" cy="320040"/>
          </a:xfrm>
          <a:prstGeom prst="rect">
            <a:avLst/>
          </a:prstGeom>
          <a:noFill/>
          <a:ln/>
        </p:spPr>
        <p:txBody>
          <a:bodyPr wrap="square" rtlCol="0" anchor="ctr"/>
          <a:lstStyle/>
          <a:p>
            <a:pPr indent="0" marL="0">
              <a:buNone/>
            </a:pPr>
            <a:r>
              <a:rPr lang="en-US" sz="1000" i="1" dirty="0">
                <a:solidFill>
                  <a:srgbClr val="4A6572"/>
                </a:solidFill>
                <a:latin typeface="Calibri" pitchFamily="34" charset="0"/>
                <a:ea typeface="Calibri" pitchFamily="34" charset="-122"/>
                <a:cs typeface="Calibri" pitchFamily="34" charset="-120"/>
              </a:rPr>
              <a:t>Campos: id_material, nombre, cantidad_usada, costo</a:t>
            </a:r>
            <a:endParaRPr lang="en-US" sz="1000" dirty="0"/>
          </a:p>
        </p:txBody>
      </p:sp>
      <p:sp>
        <p:nvSpPr>
          <p:cNvPr id="42" name="Shape 39"/>
          <p:cNvSpPr/>
          <p:nvPr/>
        </p:nvSpPr>
        <p:spPr>
          <a:xfrm>
            <a:off x="4846320" y="4325112"/>
            <a:ext cx="4069080" cy="658368"/>
          </a:xfrm>
          <a:prstGeom prst="rect">
            <a:avLst/>
          </a:prstGeom>
          <a:solidFill>
            <a:srgbClr val="DDEEF7"/>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43" name="Shape 40"/>
          <p:cNvSpPr/>
          <p:nvPr/>
        </p:nvSpPr>
        <p:spPr>
          <a:xfrm>
            <a:off x="4846320" y="4325112"/>
            <a:ext cx="109728" cy="658368"/>
          </a:xfrm>
          <a:prstGeom prst="rect">
            <a:avLst/>
          </a:prstGeom>
          <a:solidFill>
            <a:srgbClr val="1A6B8A"/>
          </a:solidFill>
          <a:ln w="12700">
            <a:solidFill>
              <a:srgbClr val="1A6B8A"/>
            </a:solidFill>
            <a:prstDash val="solid"/>
          </a:ln>
        </p:spPr>
      </p:sp>
      <p:sp>
        <p:nvSpPr>
          <p:cNvPr id="44" name="Text 41"/>
          <p:cNvSpPr/>
          <p:nvPr/>
        </p:nvSpPr>
        <p:spPr>
          <a:xfrm>
            <a:off x="5029200" y="4361688"/>
            <a:ext cx="3794760" cy="256032"/>
          </a:xfrm>
          <a:prstGeom prst="rect">
            <a:avLst/>
          </a:prstGeom>
          <a:noFill/>
          <a:ln/>
        </p:spPr>
        <p:txBody>
          <a:bodyPr wrap="square" rtlCol="0" anchor="ctr"/>
          <a:lstStyle/>
          <a:p>
            <a:pPr indent="0" marL="0">
              <a:buNone/>
            </a:pPr>
            <a:r>
              <a:rPr lang="en-US" sz="1250" b="1" dirty="0">
                <a:solidFill>
                  <a:srgbClr val="0D3B4F"/>
                </a:solidFill>
                <a:latin typeface="Calibri" pitchFamily="34" charset="0"/>
                <a:ea typeface="Calibri" pitchFamily="34" charset="-122"/>
                <a:cs typeface="Calibri" pitchFamily="34" charset="-120"/>
              </a:rPr>
              <a:t>PERSONAS_REPORTAN</a:t>
            </a:r>
            <a:endParaRPr lang="en-US" sz="1250" dirty="0"/>
          </a:p>
        </p:txBody>
      </p:sp>
      <p:sp>
        <p:nvSpPr>
          <p:cNvPr id="45" name="Text 42"/>
          <p:cNvSpPr/>
          <p:nvPr/>
        </p:nvSpPr>
        <p:spPr>
          <a:xfrm>
            <a:off x="5029200" y="4626864"/>
            <a:ext cx="3794760" cy="320040"/>
          </a:xfrm>
          <a:prstGeom prst="rect">
            <a:avLst/>
          </a:prstGeom>
          <a:noFill/>
          <a:ln/>
        </p:spPr>
        <p:txBody>
          <a:bodyPr wrap="square" rtlCol="0" anchor="ctr"/>
          <a:lstStyle/>
          <a:p>
            <a:pPr indent="0" marL="0">
              <a:buNone/>
            </a:pPr>
            <a:r>
              <a:rPr lang="en-US" sz="1000" i="1" dirty="0">
                <a:solidFill>
                  <a:srgbClr val="4A6572"/>
                </a:solidFill>
                <a:latin typeface="Calibri" pitchFamily="34" charset="0"/>
                <a:ea typeface="Calibri" pitchFamily="34" charset="-122"/>
                <a:cs typeface="Calibri" pitchFamily="34" charset="-120"/>
              </a:rPr>
              <a:t>Campos: id_persona, nombre, cargo, correo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A6B8A"/>
          </a:solidFill>
          <a:ln w="12700">
            <a:solidFill>
              <a:srgbClr val="1A6B8A"/>
            </a:solidFill>
            <a:prstDash val="solid"/>
          </a:ln>
        </p:spPr>
      </p:sp>
      <p:pic>
        <p:nvPicPr>
          <p:cNvPr id="3" name="Image 0" descr="preencoded.png">    </p:cNvPr>
          <p:cNvPicPr>
            <a:picLocks noChangeAspect="1"/>
          </p:cNvPicPr>
          <p:nvPr/>
        </p:nvPicPr>
        <p:blipFill>
          <a:blip r:embed="rId1"/>
          <a:stretch>
            <a:fillRect/>
          </a:stretch>
        </p:blipFill>
        <p:spPr>
          <a:xfrm>
            <a:off x="201168" y="155448"/>
            <a:ext cx="548640" cy="548640"/>
          </a:xfrm>
          <a:prstGeom prst="rect">
            <a:avLst/>
          </a:prstGeom>
        </p:spPr>
      </p:pic>
      <p:sp>
        <p:nvSpPr>
          <p:cNvPr id="4" name="Text 1"/>
          <p:cNvSpPr/>
          <p:nvPr/>
        </p:nvSpPr>
        <p:spPr>
          <a:xfrm>
            <a:off x="914400" y="91440"/>
            <a:ext cx="7955280" cy="685800"/>
          </a:xfrm>
          <a:prstGeom prst="rect">
            <a:avLst/>
          </a:prstGeom>
          <a:noFill/>
          <a:ln/>
        </p:spPr>
        <p:txBody>
          <a:bodyPr wrap="square" rtlCol="0" anchor="ctr"/>
          <a:lstStyle/>
          <a:p>
            <a:pPr indent="0" marL="0">
              <a:buNone/>
            </a:pPr>
            <a:r>
              <a:rPr lang="en-US" sz="2300" b="1" dirty="0">
                <a:solidFill>
                  <a:srgbClr val="FFFFFF"/>
                </a:solidFill>
                <a:latin typeface="Trebuchet MS" pitchFamily="34" charset="0"/>
                <a:ea typeface="Trebuchet MS" pitchFamily="34" charset="-122"/>
                <a:cs typeface="Trebuchet MS" pitchFamily="34" charset="-120"/>
              </a:rPr>
              <a:t>Relaciones entre datos y Consultas útiles</a:t>
            </a:r>
            <a:endParaRPr lang="en-US" sz="2300" dirty="0"/>
          </a:p>
        </p:txBody>
      </p:sp>
      <p:sp>
        <p:nvSpPr>
          <p:cNvPr id="5" name="Text 2"/>
          <p:cNvSpPr/>
          <p:nvPr/>
        </p:nvSpPr>
        <p:spPr>
          <a:xfrm>
            <a:off x="228600" y="914400"/>
            <a:ext cx="4206240" cy="365760"/>
          </a:xfrm>
          <a:prstGeom prst="rect">
            <a:avLst/>
          </a:prstGeom>
          <a:noFill/>
          <a:ln/>
        </p:spPr>
        <p:txBody>
          <a:bodyPr wrap="square" rtlCol="0" anchor="ctr"/>
          <a:lstStyle/>
          <a:p>
            <a:pPr indent="0" marL="0">
              <a:buNone/>
            </a:pPr>
            <a:r>
              <a:rPr lang="en-US" sz="1400" b="1" dirty="0">
                <a:solidFill>
                  <a:srgbClr val="1A6B8A"/>
                </a:solidFill>
                <a:latin typeface="Trebuchet MS" pitchFamily="34" charset="0"/>
                <a:ea typeface="Trebuchet MS" pitchFamily="34" charset="-122"/>
                <a:cs typeface="Trebuchet MS" pitchFamily="34" charset="-120"/>
              </a:rPr>
              <a:t>¿Cómo se conectan las tablas?</a:t>
            </a:r>
            <a:endParaRPr lang="en-US" sz="1400" dirty="0"/>
          </a:p>
        </p:txBody>
      </p:sp>
      <p:sp>
        <p:nvSpPr>
          <p:cNvPr id="6" name="Shape 3"/>
          <p:cNvSpPr/>
          <p:nvPr/>
        </p:nvSpPr>
        <p:spPr>
          <a:xfrm>
            <a:off x="228600" y="1325880"/>
            <a:ext cx="4206240" cy="777240"/>
          </a:xfrm>
          <a:prstGeom prst="rect">
            <a:avLst/>
          </a:prstGeom>
          <a:solidFill>
            <a:srgbClr val="EAF4F9"/>
          </a:solidFill>
          <a:ln w="12700">
            <a:solidFill>
              <a:srgbClr val="C5E0EE"/>
            </a:solidFill>
            <a:prstDash val="solid"/>
          </a:ln>
        </p:spPr>
      </p:sp>
      <p:sp>
        <p:nvSpPr>
          <p:cNvPr id="7" name="Text 4"/>
          <p:cNvSpPr/>
          <p:nvPr/>
        </p:nvSpPr>
        <p:spPr>
          <a:xfrm>
            <a:off x="320040" y="1362456"/>
            <a:ext cx="4023360" cy="292608"/>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REPORTE</a:t>
            </a:r>
            <a:pPr indent="0" marL="0">
              <a:buNone/>
            </a:pPr>
            <a:r>
              <a:rPr lang="en-US" sz="1200" b="1" dirty="0">
                <a:solidFill>
                  <a:srgbClr val="F5A623"/>
                </a:solidFill>
                <a:latin typeface="Calibri" pitchFamily="34" charset="0"/>
                <a:ea typeface="Calibri" pitchFamily="34" charset="-122"/>
                <a:cs typeface="Calibri" pitchFamily="34" charset="-120"/>
              </a:rPr>
              <a:t> → pertenece a → </a:t>
            </a:r>
            <a:pPr indent="0" marL="0">
              <a:buNone/>
            </a:pPr>
            <a:r>
              <a:rPr lang="en-US" sz="1200" b="1" dirty="0">
                <a:solidFill>
                  <a:srgbClr val="1A6B8A"/>
                </a:solidFill>
                <a:latin typeface="Calibri" pitchFamily="34" charset="0"/>
                <a:ea typeface="Calibri" pitchFamily="34" charset="-122"/>
                <a:cs typeface="Calibri" pitchFamily="34" charset="-120"/>
              </a:rPr>
              <a:t>ÁREA</a:t>
            </a:r>
            <a:endParaRPr lang="en-US" sz="1200" dirty="0"/>
          </a:p>
        </p:txBody>
      </p:sp>
      <p:sp>
        <p:nvSpPr>
          <p:cNvPr id="8" name="Text 5"/>
          <p:cNvSpPr/>
          <p:nvPr/>
        </p:nvSpPr>
        <p:spPr>
          <a:xfrm>
            <a:off x="320040" y="1673352"/>
            <a:ext cx="4023360" cy="384048"/>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Cada reporte ocurre en un área específica del plantel.</a:t>
            </a:r>
            <a:endParaRPr lang="en-US" sz="1050" dirty="0"/>
          </a:p>
        </p:txBody>
      </p:sp>
      <p:sp>
        <p:nvSpPr>
          <p:cNvPr id="9" name="Shape 6"/>
          <p:cNvSpPr/>
          <p:nvPr/>
        </p:nvSpPr>
        <p:spPr>
          <a:xfrm>
            <a:off x="228600" y="2221992"/>
            <a:ext cx="4206240" cy="777240"/>
          </a:xfrm>
          <a:prstGeom prst="rect">
            <a:avLst/>
          </a:prstGeom>
          <a:solidFill>
            <a:srgbClr val="FFFFFF"/>
          </a:solidFill>
          <a:ln w="12700">
            <a:solidFill>
              <a:srgbClr val="C5E0EE"/>
            </a:solidFill>
            <a:prstDash val="solid"/>
          </a:ln>
        </p:spPr>
      </p:sp>
      <p:sp>
        <p:nvSpPr>
          <p:cNvPr id="10" name="Text 7"/>
          <p:cNvSpPr/>
          <p:nvPr/>
        </p:nvSpPr>
        <p:spPr>
          <a:xfrm>
            <a:off x="320040" y="2258568"/>
            <a:ext cx="4023360" cy="292608"/>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REPORTE</a:t>
            </a:r>
            <a:pPr indent="0" marL="0">
              <a:buNone/>
            </a:pPr>
            <a:r>
              <a:rPr lang="en-US" sz="1200" b="1" dirty="0">
                <a:solidFill>
                  <a:srgbClr val="F5A623"/>
                </a:solidFill>
                <a:latin typeface="Calibri" pitchFamily="34" charset="0"/>
                <a:ea typeface="Calibri" pitchFamily="34" charset="-122"/>
                <a:cs typeface="Calibri" pitchFamily="34" charset="-120"/>
              </a:rPr>
              <a:t> → es atendido por → </a:t>
            </a:r>
            <a:pPr indent="0" marL="0">
              <a:buNone/>
            </a:pPr>
            <a:r>
              <a:rPr lang="en-US" sz="1200" b="1" dirty="0">
                <a:solidFill>
                  <a:srgbClr val="1A6B8A"/>
                </a:solidFill>
                <a:latin typeface="Calibri" pitchFamily="34" charset="0"/>
                <a:ea typeface="Calibri" pitchFamily="34" charset="-122"/>
                <a:cs typeface="Calibri" pitchFamily="34" charset="-120"/>
              </a:rPr>
              <a:t>TRABAJADOR</a:t>
            </a:r>
            <a:endParaRPr lang="en-US" sz="1200" dirty="0"/>
          </a:p>
        </p:txBody>
      </p:sp>
      <p:sp>
        <p:nvSpPr>
          <p:cNvPr id="11" name="Text 8"/>
          <p:cNvSpPr/>
          <p:nvPr/>
        </p:nvSpPr>
        <p:spPr>
          <a:xfrm>
            <a:off x="320040" y="2569464"/>
            <a:ext cx="4023360" cy="384048"/>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Un trabajador puede atender varios reportes, pero cada reporte tiene un trabajador asignado.</a:t>
            </a:r>
            <a:endParaRPr lang="en-US" sz="1050" dirty="0"/>
          </a:p>
        </p:txBody>
      </p:sp>
      <p:sp>
        <p:nvSpPr>
          <p:cNvPr id="12" name="Shape 9"/>
          <p:cNvSpPr/>
          <p:nvPr/>
        </p:nvSpPr>
        <p:spPr>
          <a:xfrm>
            <a:off x="228600" y="3118104"/>
            <a:ext cx="4206240" cy="777240"/>
          </a:xfrm>
          <a:prstGeom prst="rect">
            <a:avLst/>
          </a:prstGeom>
          <a:solidFill>
            <a:srgbClr val="EAF4F9"/>
          </a:solidFill>
          <a:ln w="12700">
            <a:solidFill>
              <a:srgbClr val="C5E0EE"/>
            </a:solidFill>
            <a:prstDash val="solid"/>
          </a:ln>
        </p:spPr>
      </p:sp>
      <p:sp>
        <p:nvSpPr>
          <p:cNvPr id="13" name="Text 10"/>
          <p:cNvSpPr/>
          <p:nvPr/>
        </p:nvSpPr>
        <p:spPr>
          <a:xfrm>
            <a:off x="320040" y="3154680"/>
            <a:ext cx="4023360" cy="292608"/>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REPORTE</a:t>
            </a:r>
            <a:pPr indent="0" marL="0">
              <a:buNone/>
            </a:pPr>
            <a:r>
              <a:rPr lang="en-US" sz="1200" b="1" dirty="0">
                <a:solidFill>
                  <a:srgbClr val="F5A623"/>
                </a:solidFill>
                <a:latin typeface="Calibri" pitchFamily="34" charset="0"/>
                <a:ea typeface="Calibri" pitchFamily="34" charset="-122"/>
                <a:cs typeface="Calibri" pitchFamily="34" charset="-120"/>
              </a:rPr>
              <a:t> → usa → </a:t>
            </a:r>
            <a:pPr indent="0" marL="0">
              <a:buNone/>
            </a:pPr>
            <a:r>
              <a:rPr lang="en-US" sz="1200" b="1" dirty="0">
                <a:solidFill>
                  <a:srgbClr val="1A6B8A"/>
                </a:solidFill>
                <a:latin typeface="Calibri" pitchFamily="34" charset="0"/>
                <a:ea typeface="Calibri" pitchFamily="34" charset="-122"/>
                <a:cs typeface="Calibri" pitchFamily="34" charset="-120"/>
              </a:rPr>
              <a:t>MATERIALES</a:t>
            </a:r>
            <a:endParaRPr lang="en-US" sz="1200" dirty="0"/>
          </a:p>
        </p:txBody>
      </p:sp>
      <p:sp>
        <p:nvSpPr>
          <p:cNvPr id="14" name="Text 11"/>
          <p:cNvSpPr/>
          <p:nvPr/>
        </p:nvSpPr>
        <p:spPr>
          <a:xfrm>
            <a:off x="320040" y="3465576"/>
            <a:ext cx="4023360" cy="384048"/>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Al cerrar el reporte se registran los materiales utilizados.</a:t>
            </a:r>
            <a:endParaRPr lang="en-US" sz="1050" dirty="0"/>
          </a:p>
        </p:txBody>
      </p:sp>
      <p:sp>
        <p:nvSpPr>
          <p:cNvPr id="15" name="Shape 12"/>
          <p:cNvSpPr/>
          <p:nvPr/>
        </p:nvSpPr>
        <p:spPr>
          <a:xfrm>
            <a:off x="228600" y="4014216"/>
            <a:ext cx="4206240" cy="777240"/>
          </a:xfrm>
          <a:prstGeom prst="rect">
            <a:avLst/>
          </a:prstGeom>
          <a:solidFill>
            <a:srgbClr val="FFFFFF"/>
          </a:solidFill>
          <a:ln w="12700">
            <a:solidFill>
              <a:srgbClr val="C5E0EE"/>
            </a:solidFill>
            <a:prstDash val="solid"/>
          </a:ln>
        </p:spPr>
      </p:sp>
      <p:sp>
        <p:nvSpPr>
          <p:cNvPr id="16" name="Text 13"/>
          <p:cNvSpPr/>
          <p:nvPr/>
        </p:nvSpPr>
        <p:spPr>
          <a:xfrm>
            <a:off x="320040" y="4050792"/>
            <a:ext cx="4023360" cy="292608"/>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PERSONA</a:t>
            </a:r>
            <a:pPr indent="0" marL="0">
              <a:buNone/>
            </a:pPr>
            <a:r>
              <a:rPr lang="en-US" sz="1200" b="1" dirty="0">
                <a:solidFill>
                  <a:srgbClr val="F5A623"/>
                </a:solidFill>
                <a:latin typeface="Calibri" pitchFamily="34" charset="0"/>
                <a:ea typeface="Calibri" pitchFamily="34" charset="-122"/>
                <a:cs typeface="Calibri" pitchFamily="34" charset="-120"/>
              </a:rPr>
              <a:t> → genera → </a:t>
            </a:r>
            <a:pPr indent="0" marL="0">
              <a:buNone/>
            </a:pPr>
            <a:r>
              <a:rPr lang="en-US" sz="1200" b="1" dirty="0">
                <a:solidFill>
                  <a:srgbClr val="1A6B8A"/>
                </a:solidFill>
                <a:latin typeface="Calibri" pitchFamily="34" charset="0"/>
                <a:ea typeface="Calibri" pitchFamily="34" charset="-122"/>
                <a:cs typeface="Calibri" pitchFamily="34" charset="-120"/>
              </a:rPr>
              <a:t>REPORTE</a:t>
            </a:r>
            <a:endParaRPr lang="en-US" sz="1200" dirty="0"/>
          </a:p>
        </p:txBody>
      </p:sp>
      <p:sp>
        <p:nvSpPr>
          <p:cNvPr id="17" name="Text 14"/>
          <p:cNvSpPr/>
          <p:nvPr/>
        </p:nvSpPr>
        <p:spPr>
          <a:xfrm>
            <a:off x="320040" y="4361688"/>
            <a:ext cx="4023360" cy="384048"/>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Cualquier persona del plantel puede crear un reporte de falla.</a:t>
            </a:r>
            <a:endParaRPr lang="en-US" sz="1050" dirty="0"/>
          </a:p>
        </p:txBody>
      </p:sp>
      <p:sp>
        <p:nvSpPr>
          <p:cNvPr id="18" name="Text 15"/>
          <p:cNvSpPr/>
          <p:nvPr/>
        </p:nvSpPr>
        <p:spPr>
          <a:xfrm>
            <a:off x="4754880" y="914400"/>
            <a:ext cx="4160520" cy="365760"/>
          </a:xfrm>
          <a:prstGeom prst="rect">
            <a:avLst/>
          </a:prstGeom>
          <a:noFill/>
          <a:ln/>
        </p:spPr>
        <p:txBody>
          <a:bodyPr wrap="square" rtlCol="0" anchor="ctr"/>
          <a:lstStyle/>
          <a:p>
            <a:pPr indent="0" marL="0">
              <a:buNone/>
            </a:pPr>
            <a:r>
              <a:rPr lang="en-US" sz="1400" b="1" dirty="0">
                <a:solidFill>
                  <a:srgbClr val="1A6B8A"/>
                </a:solidFill>
                <a:latin typeface="Trebuchet MS" pitchFamily="34" charset="0"/>
                <a:ea typeface="Trebuchet MS" pitchFamily="34" charset="-122"/>
                <a:cs typeface="Trebuchet MS" pitchFamily="34" charset="-120"/>
              </a:rPr>
              <a:t>5 consultas clave del sistema</a:t>
            </a:r>
            <a:endParaRPr lang="en-US" sz="1400" dirty="0"/>
          </a:p>
        </p:txBody>
      </p:sp>
      <p:sp>
        <p:nvSpPr>
          <p:cNvPr id="19" name="Shape 16"/>
          <p:cNvSpPr/>
          <p:nvPr/>
        </p:nvSpPr>
        <p:spPr>
          <a:xfrm>
            <a:off x="4754880" y="1325880"/>
            <a:ext cx="4160520" cy="667512"/>
          </a:xfrm>
          <a:prstGeom prst="rect">
            <a:avLst/>
          </a:prstGeom>
          <a:solidFill>
            <a:srgbClr val="FFFFFF"/>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20" name="Shape 17"/>
          <p:cNvSpPr/>
          <p:nvPr/>
        </p:nvSpPr>
        <p:spPr>
          <a:xfrm>
            <a:off x="4754880" y="1325880"/>
            <a:ext cx="320040" cy="667512"/>
          </a:xfrm>
          <a:prstGeom prst="rect">
            <a:avLst/>
          </a:prstGeom>
          <a:solidFill>
            <a:srgbClr val="F5A623"/>
          </a:solidFill>
          <a:ln w="12700">
            <a:solidFill>
              <a:srgbClr val="F5A623"/>
            </a:solidFill>
            <a:prstDash val="solid"/>
          </a:ln>
        </p:spPr>
      </p:sp>
      <p:sp>
        <p:nvSpPr>
          <p:cNvPr id="21" name="Text 18"/>
          <p:cNvSpPr/>
          <p:nvPr/>
        </p:nvSpPr>
        <p:spPr>
          <a:xfrm>
            <a:off x="4754880" y="1325880"/>
            <a:ext cx="320040" cy="667512"/>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1</a:t>
            </a:r>
            <a:endParaRPr lang="en-US" sz="1600" dirty="0"/>
          </a:p>
        </p:txBody>
      </p:sp>
      <p:sp>
        <p:nvSpPr>
          <p:cNvPr id="22" name="Text 19"/>
          <p:cNvSpPr/>
          <p:nvPr/>
        </p:nvSpPr>
        <p:spPr>
          <a:xfrm>
            <a:off x="5138928" y="1362456"/>
            <a:ext cx="3703320" cy="256032"/>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Reportes pendientes</a:t>
            </a:r>
            <a:endParaRPr lang="en-US" sz="1200" dirty="0"/>
          </a:p>
        </p:txBody>
      </p:sp>
      <p:sp>
        <p:nvSpPr>
          <p:cNvPr id="23" name="Text 20"/>
          <p:cNvSpPr/>
          <p:nvPr/>
        </p:nvSpPr>
        <p:spPr>
          <a:xfrm>
            <a:off x="5138928" y="1627632"/>
            <a:ext cx="3703320" cy="329184"/>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Ver qué fallas siguen sin atenderse para priorizarlas.</a:t>
            </a:r>
            <a:endParaRPr lang="en-US" sz="1050" dirty="0"/>
          </a:p>
        </p:txBody>
      </p:sp>
      <p:sp>
        <p:nvSpPr>
          <p:cNvPr id="24" name="Shape 21"/>
          <p:cNvSpPr/>
          <p:nvPr/>
        </p:nvSpPr>
        <p:spPr>
          <a:xfrm>
            <a:off x="4754880" y="2084832"/>
            <a:ext cx="4160520" cy="667512"/>
          </a:xfrm>
          <a:prstGeom prst="rect">
            <a:avLst/>
          </a:prstGeom>
          <a:solidFill>
            <a:srgbClr val="FFFFFF"/>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25" name="Shape 22"/>
          <p:cNvSpPr/>
          <p:nvPr/>
        </p:nvSpPr>
        <p:spPr>
          <a:xfrm>
            <a:off x="4754880" y="2084832"/>
            <a:ext cx="320040" cy="667512"/>
          </a:xfrm>
          <a:prstGeom prst="rect">
            <a:avLst/>
          </a:prstGeom>
          <a:solidFill>
            <a:srgbClr val="F5A623"/>
          </a:solidFill>
          <a:ln w="12700">
            <a:solidFill>
              <a:srgbClr val="F5A623"/>
            </a:solidFill>
            <a:prstDash val="solid"/>
          </a:ln>
        </p:spPr>
      </p:sp>
      <p:sp>
        <p:nvSpPr>
          <p:cNvPr id="26" name="Text 23"/>
          <p:cNvSpPr/>
          <p:nvPr/>
        </p:nvSpPr>
        <p:spPr>
          <a:xfrm>
            <a:off x="4754880" y="2084832"/>
            <a:ext cx="320040" cy="667512"/>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2</a:t>
            </a:r>
            <a:endParaRPr lang="en-US" sz="1600" dirty="0"/>
          </a:p>
        </p:txBody>
      </p:sp>
      <p:sp>
        <p:nvSpPr>
          <p:cNvPr id="27" name="Text 24"/>
          <p:cNvSpPr/>
          <p:nvPr/>
        </p:nvSpPr>
        <p:spPr>
          <a:xfrm>
            <a:off x="5138928" y="2121408"/>
            <a:ext cx="3703320" cy="256032"/>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Fallas más comunes</a:t>
            </a:r>
            <a:endParaRPr lang="en-US" sz="1200" dirty="0"/>
          </a:p>
        </p:txBody>
      </p:sp>
      <p:sp>
        <p:nvSpPr>
          <p:cNvPr id="28" name="Text 25"/>
          <p:cNvSpPr/>
          <p:nvPr/>
        </p:nvSpPr>
        <p:spPr>
          <a:xfrm>
            <a:off x="5138928" y="2386584"/>
            <a:ext cx="3703320" cy="329184"/>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Saber qué tipo de problema se repite más (ej. fugas, electricidad).</a:t>
            </a:r>
            <a:endParaRPr lang="en-US" sz="1050" dirty="0"/>
          </a:p>
        </p:txBody>
      </p:sp>
      <p:sp>
        <p:nvSpPr>
          <p:cNvPr id="29" name="Shape 26"/>
          <p:cNvSpPr/>
          <p:nvPr/>
        </p:nvSpPr>
        <p:spPr>
          <a:xfrm>
            <a:off x="4754880" y="2843784"/>
            <a:ext cx="4160520" cy="667512"/>
          </a:xfrm>
          <a:prstGeom prst="rect">
            <a:avLst/>
          </a:prstGeom>
          <a:solidFill>
            <a:srgbClr val="FFFFFF"/>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30" name="Shape 27"/>
          <p:cNvSpPr/>
          <p:nvPr/>
        </p:nvSpPr>
        <p:spPr>
          <a:xfrm>
            <a:off x="4754880" y="2843784"/>
            <a:ext cx="320040" cy="667512"/>
          </a:xfrm>
          <a:prstGeom prst="rect">
            <a:avLst/>
          </a:prstGeom>
          <a:solidFill>
            <a:srgbClr val="F5A623"/>
          </a:solidFill>
          <a:ln w="12700">
            <a:solidFill>
              <a:srgbClr val="F5A623"/>
            </a:solidFill>
            <a:prstDash val="solid"/>
          </a:ln>
        </p:spPr>
      </p:sp>
      <p:sp>
        <p:nvSpPr>
          <p:cNvPr id="31" name="Text 28"/>
          <p:cNvSpPr/>
          <p:nvPr/>
        </p:nvSpPr>
        <p:spPr>
          <a:xfrm>
            <a:off x="4754880" y="2843784"/>
            <a:ext cx="320040" cy="667512"/>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3</a:t>
            </a:r>
            <a:endParaRPr lang="en-US" sz="1600" dirty="0"/>
          </a:p>
        </p:txBody>
      </p:sp>
      <p:sp>
        <p:nvSpPr>
          <p:cNvPr id="32" name="Text 29"/>
          <p:cNvSpPr/>
          <p:nvPr/>
        </p:nvSpPr>
        <p:spPr>
          <a:xfrm>
            <a:off x="5138928" y="2880360"/>
            <a:ext cx="3703320" cy="256032"/>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Áreas con más problemas</a:t>
            </a:r>
            <a:endParaRPr lang="en-US" sz="1200" dirty="0"/>
          </a:p>
        </p:txBody>
      </p:sp>
      <p:sp>
        <p:nvSpPr>
          <p:cNvPr id="33" name="Text 30"/>
          <p:cNvSpPr/>
          <p:nvPr/>
        </p:nvSpPr>
        <p:spPr>
          <a:xfrm>
            <a:off x="5138928" y="3145536"/>
            <a:ext cx="3703320" cy="329184"/>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Identificar qué zonas del plantel necesitan más atención o mantenimiento preventivo.</a:t>
            </a:r>
            <a:endParaRPr lang="en-US" sz="1050" dirty="0"/>
          </a:p>
        </p:txBody>
      </p:sp>
      <p:sp>
        <p:nvSpPr>
          <p:cNvPr id="34" name="Shape 31"/>
          <p:cNvSpPr/>
          <p:nvPr/>
        </p:nvSpPr>
        <p:spPr>
          <a:xfrm>
            <a:off x="4754880" y="3602736"/>
            <a:ext cx="4160520" cy="667512"/>
          </a:xfrm>
          <a:prstGeom prst="rect">
            <a:avLst/>
          </a:prstGeom>
          <a:solidFill>
            <a:srgbClr val="FFFFFF"/>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35" name="Shape 32"/>
          <p:cNvSpPr/>
          <p:nvPr/>
        </p:nvSpPr>
        <p:spPr>
          <a:xfrm>
            <a:off x="4754880" y="3602736"/>
            <a:ext cx="320040" cy="667512"/>
          </a:xfrm>
          <a:prstGeom prst="rect">
            <a:avLst/>
          </a:prstGeom>
          <a:solidFill>
            <a:srgbClr val="F5A623"/>
          </a:solidFill>
          <a:ln w="12700">
            <a:solidFill>
              <a:srgbClr val="F5A623"/>
            </a:solidFill>
            <a:prstDash val="solid"/>
          </a:ln>
        </p:spPr>
      </p:sp>
      <p:sp>
        <p:nvSpPr>
          <p:cNvPr id="36" name="Text 33"/>
          <p:cNvSpPr/>
          <p:nvPr/>
        </p:nvSpPr>
        <p:spPr>
          <a:xfrm>
            <a:off x="4754880" y="3602736"/>
            <a:ext cx="320040" cy="667512"/>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4</a:t>
            </a:r>
            <a:endParaRPr lang="en-US" sz="1600" dirty="0"/>
          </a:p>
        </p:txBody>
      </p:sp>
      <p:sp>
        <p:nvSpPr>
          <p:cNvPr id="37" name="Text 34"/>
          <p:cNvSpPr/>
          <p:nvPr/>
        </p:nvSpPr>
        <p:spPr>
          <a:xfrm>
            <a:off x="5138928" y="3639312"/>
            <a:ext cx="3703320" cy="256032"/>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Tiempo promedio de atención</a:t>
            </a:r>
            <a:endParaRPr lang="en-US" sz="1200" dirty="0"/>
          </a:p>
        </p:txBody>
      </p:sp>
      <p:sp>
        <p:nvSpPr>
          <p:cNvPr id="38" name="Text 35"/>
          <p:cNvSpPr/>
          <p:nvPr/>
        </p:nvSpPr>
        <p:spPr>
          <a:xfrm>
            <a:off x="5138928" y="3904488"/>
            <a:ext cx="3703320" cy="329184"/>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Medir qué tan rápido se resuelven los problemas y si mejora con el tiempo.</a:t>
            </a:r>
            <a:endParaRPr lang="en-US" sz="1050" dirty="0"/>
          </a:p>
        </p:txBody>
      </p:sp>
      <p:sp>
        <p:nvSpPr>
          <p:cNvPr id="39" name="Shape 36"/>
          <p:cNvSpPr/>
          <p:nvPr/>
        </p:nvSpPr>
        <p:spPr>
          <a:xfrm>
            <a:off x="4754880" y="4361688"/>
            <a:ext cx="4160520" cy="667512"/>
          </a:xfrm>
          <a:prstGeom prst="rect">
            <a:avLst/>
          </a:prstGeom>
          <a:solidFill>
            <a:srgbClr val="FFFFFF"/>
          </a:solidFill>
          <a:ln w="12700">
            <a:solidFill>
              <a:srgbClr val="C5E0EE"/>
            </a:solidFill>
            <a:prstDash val="solid"/>
          </a:ln>
          <a:effectLst>
            <a:outerShdw sx="100000" sy="100000" kx="0" ky="0" algn="bl" rotWithShape="0" blurRad="101600" dist="25400" dir="8100000">
              <a:srgbClr val="000000">
                <a:alpha val="12000"/>
              </a:srgbClr>
            </a:outerShdw>
          </a:effectLst>
        </p:spPr>
      </p:sp>
      <p:sp>
        <p:nvSpPr>
          <p:cNvPr id="40" name="Shape 37"/>
          <p:cNvSpPr/>
          <p:nvPr/>
        </p:nvSpPr>
        <p:spPr>
          <a:xfrm>
            <a:off x="4754880" y="4361688"/>
            <a:ext cx="320040" cy="667512"/>
          </a:xfrm>
          <a:prstGeom prst="rect">
            <a:avLst/>
          </a:prstGeom>
          <a:solidFill>
            <a:srgbClr val="F5A623"/>
          </a:solidFill>
          <a:ln w="12700">
            <a:solidFill>
              <a:srgbClr val="F5A623"/>
            </a:solidFill>
            <a:prstDash val="solid"/>
          </a:ln>
        </p:spPr>
      </p:sp>
      <p:sp>
        <p:nvSpPr>
          <p:cNvPr id="41" name="Text 38"/>
          <p:cNvSpPr/>
          <p:nvPr/>
        </p:nvSpPr>
        <p:spPr>
          <a:xfrm>
            <a:off x="4754880" y="4361688"/>
            <a:ext cx="320040" cy="667512"/>
          </a:xfrm>
          <a:prstGeom prst="rect">
            <a:avLst/>
          </a:prstGeom>
          <a:noFill/>
          <a:ln/>
        </p:spPr>
        <p:txBody>
          <a:bodyPr wrap="square" rtlCol="0" anchor="ctr"/>
          <a:lstStyle/>
          <a:p>
            <a:pPr algn="ctr" indent="0" marL="0">
              <a:buNone/>
            </a:pPr>
            <a:r>
              <a:rPr lang="en-US" sz="1600" b="1" dirty="0">
                <a:solidFill>
                  <a:srgbClr val="0D3B4F"/>
                </a:solidFill>
                <a:latin typeface="Trebuchet MS" pitchFamily="34" charset="0"/>
                <a:ea typeface="Trebuchet MS" pitchFamily="34" charset="-122"/>
                <a:cs typeface="Trebuchet MS" pitchFamily="34" charset="-120"/>
              </a:rPr>
              <a:t>5</a:t>
            </a:r>
            <a:endParaRPr lang="en-US" sz="1600" dirty="0"/>
          </a:p>
        </p:txBody>
      </p:sp>
      <p:sp>
        <p:nvSpPr>
          <p:cNvPr id="42" name="Text 39"/>
          <p:cNvSpPr/>
          <p:nvPr/>
        </p:nvSpPr>
        <p:spPr>
          <a:xfrm>
            <a:off x="5138928" y="4398264"/>
            <a:ext cx="3703320" cy="256032"/>
          </a:xfrm>
          <a:prstGeom prst="rect">
            <a:avLst/>
          </a:prstGeom>
          <a:noFill/>
          <a:ln/>
        </p:spPr>
        <p:txBody>
          <a:bodyPr wrap="square" rtlCol="0" anchor="ctr"/>
          <a:lstStyle/>
          <a:p>
            <a:pPr indent="0" marL="0">
              <a:buNone/>
            </a:pPr>
            <a:r>
              <a:rPr lang="en-US" sz="1200" b="1" dirty="0">
                <a:solidFill>
                  <a:srgbClr val="0D3B4F"/>
                </a:solidFill>
                <a:latin typeface="Calibri" pitchFamily="34" charset="0"/>
                <a:ea typeface="Calibri" pitchFamily="34" charset="-122"/>
                <a:cs typeface="Calibri" pitchFamily="34" charset="-120"/>
              </a:rPr>
              <a:t>Trabajadores más activos</a:t>
            </a:r>
            <a:endParaRPr lang="en-US" sz="1200" dirty="0"/>
          </a:p>
        </p:txBody>
      </p:sp>
      <p:sp>
        <p:nvSpPr>
          <p:cNvPr id="43" name="Text 40"/>
          <p:cNvSpPr/>
          <p:nvPr/>
        </p:nvSpPr>
        <p:spPr>
          <a:xfrm>
            <a:off x="5138928" y="4663440"/>
            <a:ext cx="3703320" cy="329184"/>
          </a:xfrm>
          <a:prstGeom prst="rect">
            <a:avLst/>
          </a:prstGeom>
          <a:noFill/>
          <a:ln/>
        </p:spPr>
        <p:txBody>
          <a:bodyPr wrap="square" rtlCol="0" anchor="ctr"/>
          <a:lstStyle/>
          <a:p>
            <a:pPr indent="0" marL="0">
              <a:buNone/>
            </a:pPr>
            <a:r>
              <a:rPr lang="en-US" sz="1050" dirty="0">
                <a:solidFill>
                  <a:srgbClr val="4A6572"/>
                </a:solidFill>
                <a:latin typeface="Calibri" pitchFamily="34" charset="0"/>
                <a:ea typeface="Calibri" pitchFamily="34" charset="-122"/>
                <a:cs typeface="Calibri" pitchFamily="34" charset="-120"/>
              </a:rPr>
              <a:t>Ver quién ha atendido más reportes y evaluar el desempeño del equipo.</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3B4F"/>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5A623"/>
          </a:solidFill>
          <a:ln w="12700">
            <a:solidFill>
              <a:srgbClr val="F5A623"/>
            </a:solidFill>
            <a:prstDash val="solid"/>
          </a:ln>
        </p:spPr>
      </p:sp>
      <p:sp>
        <p:nvSpPr>
          <p:cNvPr id="3" name="Shape 1"/>
          <p:cNvSpPr/>
          <p:nvPr/>
        </p:nvSpPr>
        <p:spPr>
          <a:xfrm>
            <a:off x="3886200" y="274320"/>
            <a:ext cx="1371600" cy="1371600"/>
          </a:xfrm>
          <a:prstGeom prst="ellipse">
            <a:avLst/>
          </a:prstGeom>
          <a:solidFill>
            <a:srgbClr val="1A6B8A"/>
          </a:solidFill>
          <a:ln w="12700">
            <a:solidFill>
              <a:srgbClr val="1A6B8A"/>
            </a:solidFill>
            <a:prstDash val="solid"/>
          </a:ln>
        </p:spPr>
      </p:sp>
      <p:pic>
        <p:nvPicPr>
          <p:cNvPr id="4" name="Image 0" descr="preencoded.png">    </p:cNvPr>
          <p:cNvPicPr>
            <a:picLocks noChangeAspect="1"/>
          </p:cNvPicPr>
          <p:nvPr/>
        </p:nvPicPr>
        <p:blipFill>
          <a:blip r:embed="rId1"/>
          <a:stretch>
            <a:fillRect/>
          </a:stretch>
        </p:blipFill>
        <p:spPr>
          <a:xfrm>
            <a:off x="4187952" y="502920"/>
            <a:ext cx="777240" cy="777240"/>
          </a:xfrm>
          <a:prstGeom prst="rect">
            <a:avLst/>
          </a:prstGeom>
        </p:spPr>
      </p:pic>
      <p:sp>
        <p:nvSpPr>
          <p:cNvPr id="5" name="Text 2"/>
          <p:cNvSpPr/>
          <p:nvPr/>
        </p:nvSpPr>
        <p:spPr>
          <a:xfrm>
            <a:off x="457200" y="1783080"/>
            <a:ext cx="8229600" cy="502920"/>
          </a:xfrm>
          <a:prstGeom prst="rect">
            <a:avLst/>
          </a:prstGeom>
          <a:noFill/>
          <a:ln/>
        </p:spPr>
        <p:txBody>
          <a:bodyPr wrap="square" rtlCol="0" anchor="ctr"/>
          <a:lstStyle/>
          <a:p>
            <a:pPr algn="ctr" indent="0" marL="0">
              <a:buNone/>
            </a:pPr>
            <a:r>
              <a:rPr lang="en-US" sz="2800" b="1" dirty="0">
                <a:solidFill>
                  <a:srgbClr val="F5A623"/>
                </a:solidFill>
                <a:latin typeface="Trebuchet MS" pitchFamily="34" charset="0"/>
                <a:ea typeface="Trebuchet MS" pitchFamily="34" charset="-122"/>
                <a:cs typeface="Trebuchet MS" pitchFamily="34" charset="-120"/>
              </a:rPr>
              <a:t>Conclusión</a:t>
            </a:r>
            <a:endParaRPr lang="en-US" sz="2800" dirty="0"/>
          </a:p>
        </p:txBody>
      </p:sp>
      <p:sp>
        <p:nvSpPr>
          <p:cNvPr id="6" name="Shape 3"/>
          <p:cNvSpPr/>
          <p:nvPr/>
        </p:nvSpPr>
        <p:spPr>
          <a:xfrm>
            <a:off x="274320" y="2423160"/>
            <a:ext cx="2788920" cy="2331720"/>
          </a:xfrm>
          <a:prstGeom prst="rect">
            <a:avLst/>
          </a:prstGeom>
          <a:solidFill>
            <a:srgbClr val="112D3E"/>
          </a:solidFill>
          <a:ln w="12700">
            <a:solidFill>
              <a:srgbClr val="1A6B8A"/>
            </a:solidFill>
            <a:prstDash val="solid"/>
          </a:ln>
          <a:effectLst>
            <a:outerShdw sx="100000" sy="100000" kx="0" ky="0" algn="bl" rotWithShape="0" blurRad="101600" dist="25400" dir="8100000">
              <a:srgbClr val="000000">
                <a:alpha val="12000"/>
              </a:srgbClr>
            </a:outerShdw>
          </a:effectLst>
        </p:spPr>
      </p:sp>
      <p:sp>
        <p:nvSpPr>
          <p:cNvPr id="7" name="Text 4"/>
          <p:cNvSpPr/>
          <p:nvPr/>
        </p:nvSpPr>
        <p:spPr>
          <a:xfrm>
            <a:off x="365760" y="2487168"/>
            <a:ext cx="2606040" cy="41148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8" name="Text 5"/>
          <p:cNvSpPr/>
          <p:nvPr/>
        </p:nvSpPr>
        <p:spPr>
          <a:xfrm>
            <a:off x="365760" y="2907792"/>
            <a:ext cx="2606040" cy="347472"/>
          </a:xfrm>
          <a:prstGeom prst="rect">
            <a:avLst/>
          </a:prstGeom>
          <a:noFill/>
          <a:ln/>
        </p:spPr>
        <p:txBody>
          <a:bodyPr wrap="square" rtlCol="0" anchor="ctr"/>
          <a:lstStyle/>
          <a:p>
            <a:pPr algn="ctr" indent="0" marL="0">
              <a:buNone/>
            </a:pPr>
            <a:r>
              <a:rPr lang="en-US" sz="1300" b="1" dirty="0">
                <a:solidFill>
                  <a:srgbClr val="F5A623"/>
                </a:solidFill>
                <a:latin typeface="Trebuchet MS" pitchFamily="34" charset="0"/>
                <a:ea typeface="Trebuchet MS" pitchFamily="34" charset="-122"/>
                <a:cs typeface="Trebuchet MS" pitchFamily="34" charset="-120"/>
              </a:rPr>
              <a:t>¿Qué aprendimos?</a:t>
            </a:r>
            <a:endParaRPr lang="en-US" sz="1300" dirty="0"/>
          </a:p>
        </p:txBody>
      </p:sp>
      <p:sp>
        <p:nvSpPr>
          <p:cNvPr id="9" name="Text 6"/>
          <p:cNvSpPr/>
          <p:nvPr/>
        </p:nvSpPr>
        <p:spPr>
          <a:xfrm>
            <a:off x="384048" y="3291840"/>
            <a:ext cx="2569464" cy="1371600"/>
          </a:xfrm>
          <a:prstGeom prst="rect">
            <a:avLst/>
          </a:prstGeom>
          <a:noFill/>
          <a:ln/>
        </p:spPr>
        <p:txBody>
          <a:bodyPr wrap="square" rtlCol="0" anchor="t"/>
          <a:lstStyle/>
          <a:p>
            <a:pPr algn="ctr" indent="0" marL="0">
              <a:buNone/>
            </a:pPr>
            <a:r>
              <a:rPr lang="en-US" sz="1100" dirty="0">
                <a:solidFill>
                  <a:srgbClr val="B8D8E8"/>
                </a:solidFill>
                <a:latin typeface="Calibri" pitchFamily="34" charset="0"/>
                <a:ea typeface="Calibri" pitchFamily="34" charset="-122"/>
                <a:cs typeface="Calibri" pitchFamily="34" charset="-120"/>
              </a:rPr>
              <a:t>Antes de diseñar una base de datos, hay que analizar bien el problema: qué datos existen, quién los usa y cómo se relacionan entre sí.</a:t>
            </a:r>
            <a:endParaRPr lang="en-US" sz="1100" dirty="0"/>
          </a:p>
        </p:txBody>
      </p:sp>
      <p:sp>
        <p:nvSpPr>
          <p:cNvPr id="10" name="Shape 7"/>
          <p:cNvSpPr/>
          <p:nvPr/>
        </p:nvSpPr>
        <p:spPr>
          <a:xfrm>
            <a:off x="3246120" y="2423160"/>
            <a:ext cx="2788920" cy="2331720"/>
          </a:xfrm>
          <a:prstGeom prst="rect">
            <a:avLst/>
          </a:prstGeom>
          <a:solidFill>
            <a:srgbClr val="112D3E"/>
          </a:solidFill>
          <a:ln w="12700">
            <a:solidFill>
              <a:srgbClr val="1A6B8A"/>
            </a:solidFill>
            <a:prstDash val="solid"/>
          </a:ln>
          <a:effectLst>
            <a:outerShdw sx="100000" sy="100000" kx="0" ky="0" algn="bl" rotWithShape="0" blurRad="101600" dist="25400" dir="8100000">
              <a:srgbClr val="000000">
                <a:alpha val="12000"/>
              </a:srgbClr>
            </a:outerShdw>
          </a:effectLst>
        </p:spPr>
      </p:sp>
      <p:sp>
        <p:nvSpPr>
          <p:cNvPr id="11" name="Text 8"/>
          <p:cNvSpPr/>
          <p:nvPr/>
        </p:nvSpPr>
        <p:spPr>
          <a:xfrm>
            <a:off x="3337560" y="2487168"/>
            <a:ext cx="2606040" cy="41148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2" name="Text 9"/>
          <p:cNvSpPr/>
          <p:nvPr/>
        </p:nvSpPr>
        <p:spPr>
          <a:xfrm>
            <a:off x="3337560" y="2907792"/>
            <a:ext cx="2606040" cy="347472"/>
          </a:xfrm>
          <a:prstGeom prst="rect">
            <a:avLst/>
          </a:prstGeom>
          <a:noFill/>
          <a:ln/>
        </p:spPr>
        <p:txBody>
          <a:bodyPr wrap="square" rtlCol="0" anchor="ctr"/>
          <a:lstStyle/>
          <a:p>
            <a:pPr algn="ctr" indent="0" marL="0">
              <a:buNone/>
            </a:pPr>
            <a:r>
              <a:rPr lang="en-US" sz="1300" b="1" dirty="0">
                <a:solidFill>
                  <a:srgbClr val="F5A623"/>
                </a:solidFill>
                <a:latin typeface="Trebuchet MS" pitchFamily="34" charset="0"/>
                <a:ea typeface="Trebuchet MS" pitchFamily="34" charset="-122"/>
                <a:cs typeface="Trebuchet MS" pitchFamily="34" charset="-120"/>
              </a:rPr>
              <a:t>¿Por qué una BD ayuda?</a:t>
            </a:r>
            <a:endParaRPr lang="en-US" sz="1300" dirty="0"/>
          </a:p>
        </p:txBody>
      </p:sp>
      <p:sp>
        <p:nvSpPr>
          <p:cNvPr id="13" name="Text 10"/>
          <p:cNvSpPr/>
          <p:nvPr/>
        </p:nvSpPr>
        <p:spPr>
          <a:xfrm>
            <a:off x="3355848" y="3291840"/>
            <a:ext cx="2569464" cy="1371600"/>
          </a:xfrm>
          <a:prstGeom prst="rect">
            <a:avLst/>
          </a:prstGeom>
          <a:noFill/>
          <a:ln/>
        </p:spPr>
        <p:txBody>
          <a:bodyPr wrap="square" rtlCol="0" anchor="t"/>
          <a:lstStyle/>
          <a:p>
            <a:pPr algn="ctr" indent="0" marL="0">
              <a:buNone/>
            </a:pPr>
            <a:r>
              <a:rPr lang="en-US" sz="1100" dirty="0">
                <a:solidFill>
                  <a:srgbClr val="B8D8E8"/>
                </a:solidFill>
                <a:latin typeface="Calibri" pitchFamily="34" charset="0"/>
                <a:ea typeface="Calibri" pitchFamily="34" charset="-122"/>
                <a:cs typeface="Calibri" pitchFamily="34" charset="-120"/>
              </a:rPr>
              <a:t>Reemplaza los mensajes informales por un sistema con registro permanente, búsqueda rápida y reportes automáticos. Nada se pierde.</a:t>
            </a:r>
            <a:endParaRPr lang="en-US" sz="1100" dirty="0"/>
          </a:p>
        </p:txBody>
      </p:sp>
      <p:sp>
        <p:nvSpPr>
          <p:cNvPr id="14" name="Shape 11"/>
          <p:cNvSpPr/>
          <p:nvPr/>
        </p:nvSpPr>
        <p:spPr>
          <a:xfrm>
            <a:off x="6217920" y="2423160"/>
            <a:ext cx="2788920" cy="2331720"/>
          </a:xfrm>
          <a:prstGeom prst="rect">
            <a:avLst/>
          </a:prstGeom>
          <a:solidFill>
            <a:srgbClr val="112D3E"/>
          </a:solidFill>
          <a:ln w="12700">
            <a:solidFill>
              <a:srgbClr val="1A6B8A"/>
            </a:solidFill>
            <a:prstDash val="solid"/>
          </a:ln>
          <a:effectLst>
            <a:outerShdw sx="100000" sy="100000" kx="0" ky="0" algn="bl" rotWithShape="0" blurRad="101600" dist="25400" dir="8100000">
              <a:srgbClr val="000000">
                <a:alpha val="12000"/>
              </a:srgbClr>
            </a:outerShdw>
          </a:effectLst>
        </p:spPr>
      </p:sp>
      <p:sp>
        <p:nvSpPr>
          <p:cNvPr id="15" name="Text 12"/>
          <p:cNvSpPr/>
          <p:nvPr/>
        </p:nvSpPr>
        <p:spPr>
          <a:xfrm>
            <a:off x="6309360" y="2487168"/>
            <a:ext cx="2606040" cy="41148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3"/>
          <p:cNvSpPr/>
          <p:nvPr/>
        </p:nvSpPr>
        <p:spPr>
          <a:xfrm>
            <a:off x="6309360" y="2907792"/>
            <a:ext cx="2606040" cy="347472"/>
          </a:xfrm>
          <a:prstGeom prst="rect">
            <a:avLst/>
          </a:prstGeom>
          <a:noFill/>
          <a:ln/>
        </p:spPr>
        <p:txBody>
          <a:bodyPr wrap="square" rtlCol="0" anchor="ctr"/>
          <a:lstStyle/>
          <a:p>
            <a:pPr algn="ctr" indent="0" marL="0">
              <a:buNone/>
            </a:pPr>
            <a:r>
              <a:rPr lang="en-US" sz="1300" b="1" dirty="0">
                <a:solidFill>
                  <a:srgbClr val="F5A623"/>
                </a:solidFill>
                <a:latin typeface="Trebuchet MS" pitchFamily="34" charset="0"/>
                <a:ea typeface="Trebuchet MS" pitchFamily="34" charset="-122"/>
                <a:cs typeface="Trebuchet MS" pitchFamily="34" charset="-120"/>
              </a:rPr>
              <a:t>Impacto real</a:t>
            </a:r>
            <a:endParaRPr lang="en-US" sz="1300" dirty="0"/>
          </a:p>
        </p:txBody>
      </p:sp>
      <p:sp>
        <p:nvSpPr>
          <p:cNvPr id="17" name="Text 14"/>
          <p:cNvSpPr/>
          <p:nvPr/>
        </p:nvSpPr>
        <p:spPr>
          <a:xfrm>
            <a:off x="6327648" y="3291840"/>
            <a:ext cx="2569464" cy="1371600"/>
          </a:xfrm>
          <a:prstGeom prst="rect">
            <a:avLst/>
          </a:prstGeom>
          <a:noFill/>
          <a:ln/>
        </p:spPr>
        <p:txBody>
          <a:bodyPr wrap="square" rtlCol="0" anchor="t"/>
          <a:lstStyle/>
          <a:p>
            <a:pPr algn="ctr" indent="0" marL="0">
              <a:buNone/>
            </a:pPr>
            <a:r>
              <a:rPr lang="en-US" sz="1100" dirty="0">
                <a:solidFill>
                  <a:srgbClr val="B8D8E8"/>
                </a:solidFill>
                <a:latin typeface="Calibri" pitchFamily="34" charset="0"/>
                <a:ea typeface="Calibri" pitchFamily="34" charset="-122"/>
                <a:cs typeface="Calibri" pitchFamily="34" charset="-120"/>
              </a:rPr>
              <a:t>El responsable puede ver en segundos qué está pendiente, cuánto tardan las reparaciones y dónde se concentran los problemas.</a:t>
            </a:r>
            <a:endParaRPr lang="en-US" sz="1100" dirty="0"/>
          </a:p>
        </p:txBody>
      </p:sp>
      <p:sp>
        <p:nvSpPr>
          <p:cNvPr id="18" name="Text 15"/>
          <p:cNvSpPr/>
          <p:nvPr/>
        </p:nvSpPr>
        <p:spPr>
          <a:xfrm>
            <a:off x="457200" y="4736592"/>
            <a:ext cx="8229600" cy="320040"/>
          </a:xfrm>
          <a:prstGeom prst="rect">
            <a:avLst/>
          </a:prstGeom>
          <a:noFill/>
          <a:ln/>
        </p:spPr>
        <p:txBody>
          <a:bodyPr wrap="square" rtlCol="0" anchor="ctr"/>
          <a:lstStyle/>
          <a:p>
            <a:pPr algn="ctr" indent="0" marL="0">
              <a:buNone/>
            </a:pPr>
            <a:r>
              <a:rPr lang="en-US" sz="1150" i="1" dirty="0">
                <a:solidFill>
                  <a:srgbClr val="7FBDD4"/>
                </a:solidFill>
                <a:latin typeface="Calibri" pitchFamily="34" charset="0"/>
                <a:ea typeface="Calibri" pitchFamily="34" charset="-122"/>
                <a:cs typeface="Calibri" pitchFamily="34" charset="-120"/>
              </a:rPr>
              <a:t>"Organizar la información es el primer paso para resolver cualquier problema."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Control de Reportes de Mantenimiento Escolar</dc:title>
  <dc:subject>PptxGenJS Presentation</dc:subject>
  <dc:creator>PptxGenJS</dc:creator>
  <cp:lastModifiedBy>PptxGenJS</cp:lastModifiedBy>
  <cp:revision>1</cp:revision>
  <dcterms:created xsi:type="dcterms:W3CDTF">2026-05-19T04:46:34Z</dcterms:created>
  <dcterms:modified xsi:type="dcterms:W3CDTF">2026-05-19T04:46:34Z</dcterms:modified>
</cp:coreProperties>
</file>